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4.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5.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284C"/>
                </a:solidFill>
                <a:latin typeface="Arial"/>
              </a:defRPr>
            </a:pPr>
            <a:r>
              <a:rPr sz="1300" b="0" i="0" u="none" strike="noStrike">
                <a:solidFill>
                  <a:srgbClr val="12284C"/>
                </a:solidFill>
                <a:latin typeface="Arial"/>
              </a:rPr>
              <a:t>Split sizes (70/15/15)</a:t>
            </a:r>
          </a:p>
        </c:rich>
      </c:tx>
      <c:layout/>
      <c:overlay val="0"/>
    </c:title>
    <c:autoTitleDeleted val="0"/>
    <c:plotArea>
      <c:layout/>
      <c:barChart>
        <c:barDir val="col"/>
        <c:grouping val="clustered"/>
        <c:varyColors val="0"/>
        <c:ser>
          <c:idx val="0"/>
          <c:order val="0"/>
          <c:tx>
            <c:strRef>
              <c:f>Sheet1!$B$1</c:f>
              <c:strCache>
                <c:ptCount val="1"/>
                <c:pt idx="0">
                  <c:v>Samples</c:v>
                </c:pt>
              </c:strCache>
            </c:strRef>
          </c:tx>
          <c:spPr>
            <a:solidFill>
              <a:srgbClr val="0E9AA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Train</c:v>
                  </c:pt>
                  <c:pt idx="1">
                    <c:v>Validation</c:v>
                  </c:pt>
                  <c:pt idx="2">
                    <c:v>Test</c:v>
                  </c:pt>
                </c:lvl>
              </c:multiLvlStrCache>
            </c:multiLvlStrRef>
          </c:cat>
          <c:val>
            <c:numRef>
              <c:f>Sheet1!$B$2:$B$4</c:f>
              <c:numCache>
                <c:formatCode>General</c:formatCode>
                <c:ptCount val="3"/>
                <c:pt idx="0">
                  <c:v>807</c:v>
                </c:pt>
                <c:pt idx="1">
                  <c:v>173</c:v>
                </c:pt>
                <c:pt idx="2">
                  <c:v>173</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284C"/>
                </a:solidFill>
                <a:latin typeface="Arial"/>
              </a:defRPr>
            </a:pPr>
            <a:r>
              <a:rPr sz="1300" b="0" i="0" u="none" strike="noStrike">
                <a:solidFill>
                  <a:srgbClr val="12284C"/>
                </a:solidFill>
                <a:latin typeface="Arial"/>
              </a:rPr>
              <a:t>Validation accuracy, last 7 epochs</a:t>
            </a:r>
          </a:p>
        </c:rich>
      </c:tx>
      <c:layout/>
      <c:overlay val="0"/>
    </c:title>
    <c:autoTitleDeleted val="0"/>
    <c:plotArea>
      <c:layout/>
      <c:lineChart>
        <c:varyColors val="0"/>
        <c:ser>
          <c:idx val="0"/>
          <c:order val="0"/>
          <c:tx>
            <c:strRef>
              <c:f>Sheet1!$B$1</c:f>
              <c:strCache>
                <c:ptCount val="1"/>
                <c:pt idx="0">
                  <c:v>Validation accuracy (%)</c:v>
                </c:pt>
              </c:strCache>
            </c:strRef>
          </c:tx>
          <c:spPr>
            <a:solidFill>
              <a:srgbClr val="0E9AA7"/>
            </a:solidFill>
            <a:ln w="38100" cap="flat">
              <a:solidFill>
                <a:srgbClr val="0E9AA7"/>
              </a:solidFill>
              <a:prstDash val="solid"/>
              <a:round/>
            </a:ln>
            <a:effectLst/>
          </c:spPr>
          <c:invertIfNegative val="0"/>
          <c:dLbls>
            <c:numFmt formatCode="#,##0" sourceLinked="0"/>
            <c:txPr>
              <a:bodyPr/>
              <a:lstStyle/>
              <a:p>
                <a:pPr>
                  <a:defRPr b="0" i="0" strike="noStrike" sz="1000" u="none">
                    <a:solidFill>
                      <a:srgbClr val="000000"/>
                    </a:solidFill>
                    <a:latin typeface="Arial"/>
                  </a:defRPr>
                </a:pPr>
              </a:p>
            </c:txPr>
            <c:dLblPos val="t"/>
            <c:showLegendKey val="0"/>
            <c:showVal val="1"/>
            <c:showCatName val="0"/>
            <c:showSerName val="0"/>
            <c:showPercent val="0"/>
            <c:showBubbleSize val="0"/>
            <c:showLeaderLines val="0"/>
          </c:dLbls>
          <c:marker>
            <c:symbol val="circle"/>
            <c:size val="6"/>
            <c:spPr>
              <a:solidFill>
                <a:srgbClr val="0E9AA7"/>
              </a:solidFill>
              <a:ln w="9525" cap="flat">
                <a:solidFill>
                  <a:srgbClr val="0E9AA7"/>
                </a:solidFill>
                <a:prstDash val="solid"/>
                <a:round/>
              </a:ln>
              <a:effectLst/>
            </c:spPr>
          </c:marker>
          <c:cat>
            <c:multiLvlStrRef>
              <c:f>Sheet1!$A$2:$A$8</c:f>
              <c:multiLvlStrCache>
                <c:ptCount val="7"/>
                <c:lvl>
                  <c:pt idx="0">
                    <c:v>E14</c:v>
                  </c:pt>
                  <c:pt idx="1">
                    <c:v>E15</c:v>
                  </c:pt>
                  <c:pt idx="2">
                    <c:v>E16</c:v>
                  </c:pt>
                  <c:pt idx="3">
                    <c:v>E17</c:v>
                  </c:pt>
                  <c:pt idx="4">
                    <c:v>E18</c:v>
                  </c:pt>
                  <c:pt idx="5">
                    <c:v>E19</c:v>
                  </c:pt>
                  <c:pt idx="6">
                    <c:v>E20</c:v>
                  </c:pt>
                </c:lvl>
              </c:multiLvlStrCache>
            </c:multiLvlStrRef>
          </c:cat>
          <c:val>
            <c:numRef>
              <c:f>Sheet1!$B$2:$B$8</c:f>
              <c:numCache>
                <c:formatCode>General</c:formatCode>
                <c:ptCount val="7"/>
                <c:pt idx="0">
                  <c:v>82.7</c:v>
                </c:pt>
                <c:pt idx="1">
                  <c:v>84.4</c:v>
                </c:pt>
                <c:pt idx="2">
                  <c:v>85</c:v>
                </c:pt>
                <c:pt idx="3">
                  <c:v>85</c:v>
                </c:pt>
                <c:pt idx="4">
                  <c:v>86.1</c:v>
                </c:pt>
                <c:pt idx="5">
                  <c:v>87.3</c:v>
                </c:pt>
                <c:pt idx="6">
                  <c:v>87.9</c:v>
                </c:pt>
              </c:numCache>
            </c:numRef>
          </c:val>
          <c:smooth val="0"/>
        </c:ser>
        <c:dLbls>
          <c:numFmt formatCode="#,##0" sourceLinked="0"/>
          <c:txPr>
            <a:bodyPr/>
            <a:lstStyle/>
            <a:p>
              <a:pPr>
                <a:defRPr b="0" i="0" strike="noStrike" sz="1000" u="none">
                  <a:solidFill>
                    <a:srgbClr val="000000"/>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92"/>
          <c:min val="75"/>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BERT + Dense head</c:v>
                </c:pt>
              </c:strCache>
            </c:strRef>
          </c:tx>
          <c:spPr>
            <a:solidFill>
              <a:srgbClr val="12284C"/>
            </a:solidFill>
            <a:effectLst/>
          </c:spPr>
          <c:invertIfNegative val="0"/>
          <c:dLbls>
            <c:numFmt formatCode="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Accuracy</c:v>
                  </c:pt>
                  <c:pt idx="1">
                    <c:v>Macro-F1</c:v>
                  </c:pt>
                  <c:pt idx="2">
                    <c:v>Weighted-F1</c:v>
                  </c:pt>
                </c:lvl>
              </c:multiLvlStrCache>
            </c:multiLvlStrRef>
          </c:cat>
          <c:val>
            <c:numRef>
              <c:f>Sheet1!$B$2:$B$4</c:f>
              <c:numCache>
                <c:formatCode>General</c:formatCode>
                <c:ptCount val="3"/>
                <c:pt idx="0">
                  <c:v>84.97</c:v>
                </c:pt>
                <c:pt idx="1">
                  <c:v>84.37</c:v>
                </c:pt>
                <c:pt idx="2">
                  <c:v>84.19</c:v>
                </c:pt>
              </c:numCache>
            </c:numRef>
          </c:val>
        </c:ser>
        <c:ser>
          <c:idx val="1"/>
          <c:order val="1"/>
          <c:tx>
            <c:strRef>
              <c:f>Sheet1!$C$1</c:f>
              <c:strCache>
                <c:ptCount val="1"/>
                <c:pt idx="0">
                  <c:v>TF-IDF + LR</c:v>
                </c:pt>
              </c:strCache>
            </c:strRef>
          </c:tx>
          <c:spPr>
            <a:solidFill>
              <a:srgbClr val="0E9AA7"/>
            </a:solidFill>
            <a:effectLst/>
          </c:spPr>
          <c:invertIfNegative val="0"/>
          <c:dLbls>
            <c:numFmt formatCode="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Accuracy</c:v>
                  </c:pt>
                  <c:pt idx="1">
                    <c:v>Macro-F1</c:v>
                  </c:pt>
                  <c:pt idx="2">
                    <c:v>Weighted-F1</c:v>
                  </c:pt>
                </c:lvl>
              </c:multiLvlStrCache>
            </c:multiLvlStrRef>
          </c:cat>
          <c:val>
            <c:numRef>
              <c:f>Sheet1!$C$2:$C$4</c:f>
              <c:numCache>
                <c:formatCode>General</c:formatCode>
                <c:ptCount val="3"/>
                <c:pt idx="0">
                  <c:v>95.38</c:v>
                </c:pt>
                <c:pt idx="1">
                  <c:v>95.38</c:v>
                </c:pt>
                <c:pt idx="2">
                  <c:v>95.33</c:v>
                </c:pt>
              </c:numCache>
            </c:numRef>
          </c:val>
        </c:ser>
        <c:dLbls>
          <c:numFmt formatCode="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0"/>
          <c:min val="6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BERT</c:v>
                </c:pt>
              </c:strCache>
            </c:strRef>
          </c:tx>
          <c:spPr>
            <a:solidFill>
              <a:srgbClr val="12284C"/>
            </a:solidFill>
            <a:effectLst/>
          </c:spPr>
          <c:invertIfNegative val="0"/>
          <c:dLbls>
            <c:numFmt formatCode="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Peptic ulcer</c:v>
                  </c:pt>
                  <c:pt idx="1">
                    <c:v>Diabetes</c:v>
                  </c:pt>
                  <c:pt idx="2">
                    <c:v>GERD</c:v>
                  </c:pt>
                  <c:pt idx="3">
                    <c:v>Dengue</c:v>
                  </c:pt>
                  <c:pt idx="4">
                    <c:v>Allergy</c:v>
                  </c:pt>
                  <c:pt idx="5">
                    <c:v>Varicose veins</c:v>
                  </c:pt>
                </c:lvl>
              </c:multiLvlStrCache>
            </c:multiLvlStrRef>
          </c:cat>
          <c:val>
            <c:numRef>
              <c:f>Sheet1!$B$2:$B$7</c:f>
              <c:numCache>
                <c:formatCode>General</c:formatCode>
                <c:ptCount val="6"/>
                <c:pt idx="0">
                  <c:v>0.4</c:v>
                </c:pt>
                <c:pt idx="1">
                  <c:v>0.44</c:v>
                </c:pt>
                <c:pt idx="2">
                  <c:v>0.64</c:v>
                </c:pt>
                <c:pt idx="3">
                  <c:v>0.67</c:v>
                </c:pt>
                <c:pt idx="4">
                  <c:v>0.71</c:v>
                </c:pt>
                <c:pt idx="5">
                  <c:v>0.77</c:v>
                </c:pt>
              </c:numCache>
            </c:numRef>
          </c:val>
        </c:ser>
        <c:ser>
          <c:idx val="1"/>
          <c:order val="1"/>
          <c:tx>
            <c:strRef>
              <c:f>Sheet1!$C$1</c:f>
              <c:strCache>
                <c:ptCount val="1"/>
                <c:pt idx="0">
                  <c:v>TF-IDF + LR</c:v>
                </c:pt>
              </c:strCache>
            </c:strRef>
          </c:tx>
          <c:spPr>
            <a:solidFill>
              <a:srgbClr val="0E9AA7"/>
            </a:solidFill>
            <a:effectLst/>
          </c:spPr>
          <c:invertIfNegative val="0"/>
          <c:dLbls>
            <c:numFmt formatCode="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Peptic ulcer</c:v>
                  </c:pt>
                  <c:pt idx="1">
                    <c:v>Diabetes</c:v>
                  </c:pt>
                  <c:pt idx="2">
                    <c:v>GERD</c:v>
                  </c:pt>
                  <c:pt idx="3">
                    <c:v>Dengue</c:v>
                  </c:pt>
                  <c:pt idx="4">
                    <c:v>Allergy</c:v>
                  </c:pt>
                  <c:pt idx="5">
                    <c:v>Varicose veins</c:v>
                  </c:pt>
                </c:lvl>
              </c:multiLvlStrCache>
            </c:multiLvlStrRef>
          </c:cat>
          <c:val>
            <c:numRef>
              <c:f>Sheet1!$C$2:$C$7</c:f>
              <c:numCache>
                <c:formatCode>General</c:formatCode>
                <c:ptCount val="6"/>
                <c:pt idx="0">
                  <c:v>0.8</c:v>
                </c:pt>
                <c:pt idx="1">
                  <c:v>0.86</c:v>
                </c:pt>
                <c:pt idx="2">
                  <c:v>0.86</c:v>
                </c:pt>
                <c:pt idx="3">
                  <c:v>0.8</c:v>
                </c:pt>
                <c:pt idx="4">
                  <c:v>1</c:v>
                </c:pt>
                <c:pt idx="5">
                  <c:v>1</c:v>
                </c:pt>
              </c:numCache>
            </c:numRef>
          </c:val>
        </c:ser>
        <c:dLbls>
          <c:numFmt formatCode="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284C"/>
                </a:solidFill>
                <a:latin typeface="Arial"/>
              </a:defRPr>
            </a:pPr>
            <a:r>
              <a:rPr sz="1300" b="0" i="0" u="none" strike="noStrike">
                <a:solidFill>
                  <a:srgbClr val="12284C"/>
                </a:solidFill>
                <a:latin typeface="Arial"/>
              </a:rPr>
              <a:t>BERT: most frequent confusions</a:t>
            </a:r>
          </a:p>
        </c:rich>
      </c:tx>
      <c:layout/>
      <c:overlay val="0"/>
    </c:title>
    <c:autoTitleDeleted val="0"/>
    <c:plotArea>
      <c:layout/>
      <c:barChart>
        <c:barDir val="bar"/>
        <c:grouping val="clustered"/>
        <c:varyColors val="0"/>
        <c:ser>
          <c:idx val="0"/>
          <c:order val="0"/>
          <c:tx>
            <c:strRef>
              <c:f>Sheet1!$B$1</c:f>
              <c:strCache>
                <c:ptCount val="1"/>
                <c:pt idx="0">
                  <c:v>Errors</c:v>
                </c:pt>
              </c:strCache>
            </c:strRef>
          </c:tx>
          <c:spPr>
            <a:solidFill>
              <a:srgbClr val="F28C28"/>
            </a:solidFill>
            <a:effectLst/>
          </c:spPr>
          <c:invertIfNegative val="0"/>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Peptic ulcer → GERD</c:v>
                  </c:pt>
                  <c:pt idx="1">
                    <c:v>Dengue → Chicken pox</c:v>
                  </c:pt>
                  <c:pt idx="2">
                    <c:v>Varicose → Impetigo</c:v>
                  </c:pt>
                  <c:pt idx="3">
                    <c:v>Psoriasis → Drug reaction</c:v>
                  </c:pt>
                  <c:pt idx="4">
                    <c:v>Allergy → Drug reaction</c:v>
                  </c:pt>
                </c:lvl>
              </c:multiLvlStrCache>
            </c:multiLvlStrRef>
          </c:cat>
          <c:val>
            <c:numRef>
              <c:f>Sheet1!$B$2:$B$6</c:f>
              <c:numCache>
                <c:formatCode>General</c:formatCode>
                <c:ptCount val="5"/>
                <c:pt idx="0">
                  <c:v>4</c:v>
                </c:pt>
                <c:pt idx="1">
                  <c:v>2</c:v>
                </c:pt>
                <c:pt idx="2">
                  <c:v>2</c:v>
                </c:pt>
                <c:pt idx="3">
                  <c:v>2</c:v>
                </c:pt>
                <c:pt idx="4">
                  <c:v>2</c:v>
                </c:pt>
              </c:numCache>
            </c:numRef>
          </c:val>
        </c:ser>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~0:00] Good morning, everyone. Our project is Disease Classification from Symptom Text. We took one dataset and compared two very different NLP approaches: a frozen BERT model and a classic TF-IDF with Logistic Regression baseline. I'm presenting on behalf of our team: Krish Mehta, Austin Badal, Muaaz Shaikh and Adnan Bagdadi. Let's begin with a quick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~0:26] This slide is the project at a glance. The problem: people describe symptoms in free text, and we need to map that to one of 24 diseases. Our objective was to build two classifiers and compare them fairly on the same split. Model A is frozen BERT with a dense head; Model B is TF-IDF with one- and two-word n-grams plus Logistic Regression. The data is Symptom2Disease: 1,200 rows, 1,153 after removing duplicates. We cover cleaning, exploration, a 70/15/15 split, evaluation, custom prediction and saving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~1:08] Why does this matter? Symptoms are written in everyday language, with very different wording and lengths, anywhere from 12 to 55 words. A useful system has to map any such description to the most probable disease among 24 classes. The open question we wanted to answer: do costly contextual embeddings like BERT actually beat a simple TF-IDF baseline on short symptom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~1:37] So our objective is to classify diseases from natural-language descriptions using two distinct approaches, and compare them on exactly the same data split. Model A is the deep learning route: a pretrained BERT with a custom dense classifier head. Model B is the traditional machine learning baseline: TF-IDF features with Logistic Regression. Keeping the split identical is what makes the comparison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~2:07] Our scope has five steps. One, data preparation: load, inspect, clean and preprocess the text. Two, exploratory analysis: class distribution and word clouds. Three, model implementation on a stratified 70/15/15 split. Four, evaluation using accuracy, macro-F1 and weighted-F1, plus reports and confusion matrices. And five, inference: predicting on a custom symptom and saving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~2:33] About the dataset. We started with 1,200 entries and removed 47 duplicates, leaving 1,153. There are 24 disease classes, including psoriasis, arthritis, common cold, diabetes, migraine, dengue and malaria. Descriptions average about 30 words. The classes are well balanced, roughly 38 to 50 samples each, with no missing values. That means accuracy and macro-F1 are directly comparable and we didn't need any resampling.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~3:03] Every description goes through the same preprocessing pipeline: remove HTML, emails and links, digits and underscores, special characters, non-ASCII and punctuation, then lowercase and remove stop words. You can see the effect on the example: the raw sentence is reduced to just the content words, and for the first sample the length drops from 28 words to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~3:30] In exploratory analysis, the word cloud shows the dominant terms are skin, feel, headache, pain, fever, throat, rash, cough and joint. Description length is roughly normal, peaking between 26 and 36 words. Class counts range from 38 for jaundice up to 50 per disease. We used a stratified split, so class proportions stay identical across sets: 807 samples for training, and 173 each for validation and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~4:02] Now Model A. We use a pretrained BERT fine-tuned for symptom diagnosis as a frozen feature extractor. Text is tokenized to a maximum length of 170, and the 768-dimensional CLS embedding feeds a small dense head: 128 units, then 64, then 32, ending in a softmax over 24 classes. Batch norm and dropout are used for regularization. BERT's weights are frozen, so only about 110 thousand parameters are trained. We used Adam with a learning rate of 5e-5, batch size 16, 20 epochs, and callbacks for early stopping, checkpointing and learning-rate scheduling.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~4:46] Model B is the traditional baseline: TF-IDF with unigrams and bigrams, sublinear term scaling, and Logistic Regression with balanced class weights. It uses the same cleaned text and the identical stratified split as Model A. We fit the vectorizer on training data only, to avoid leakage. And it trains in seconds on a CPU, compared with roughly 8 minutes per epoch for BERT.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~5:16] Here is how Model A trained. Validation accuracy climbed steadily over the last epochs and peaked at 87.9 percent at epoch 20, which was the best epoch. Training loss fell from about 3.1 to 1.1, and validation loss reached 0.89. Notably, the curves were still improving at epoch 20, so the head is probably under-trained, and longer training could help BERT.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~5:45] This is the key result, on the held-out test set of 173 samples, with an identical split for both models. BERT with a dense head reached 84.97 percent accuracy. TF-IDF with Logistic Regression reached 95.38 percent. That is a gain of 10.4 points for the simple model. The same holds for macro-F1 and weighted-F1: TF-IDF beat frozen BERT on every metric, while training in seconds instead of minutes per epoch.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~6:19] A side-by-side view. BERT uses a 768-dimensional contextual embedding; TF-IDF uses 7,847 sparse unigram and bigram features. BERT takes about 8 minutes per epoch for 20 epochs; TF-IDF takes seconds. On accuracy and macro-F1 TF-IDF wins, and it is also far more interpretable, because we can read the term weights, whereas BERT is a black box. On short, keyword-rich symptom text, sparse features capture the signal as well as deep embeddings.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~6:52] Let's look at where BERT struggled, class by class. Its weakest classes were peptic ulcer at 0.40 F1, diabetes at 0.44, GERD at 0.64 and dengue at 0.67. TF-IDF scored between 0.80 and 1.0 on the same classes. BERT confused peptic ulcer with GERD in 4 of 7 cases, and overlapping digestive symptoms are clearly hard for a frozen encoder. Both models scored a perfect 1.00 on acne, arthritis, jaundice, malaria and UTI.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~7:27] Error analysis on the test set: BERT made 26 errors, TF-IDF made only 8. BERT's most frequent confusion was peptic ulcer predicted as GERD, followed by several pairs with two errors each, like dengue to chicken pox and allergy to drug reaction. Its diabetes recall was only 0.29, with errors spread over 5 classes. TF-IDF's 8 errors fell in 8 different pairs, so there is no systematic confusion. Word cues separate diseases that share symptoms.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~8:03] We can also see what TF-IDF learned, through the top-weighted terms per class. Acne: blackheads, pus, pimples. Psoriasis: nails, knees, elbows, joints. Migraine: vision, visual, headaches. Diabetes: infections, palpitations, dry, healing. Peptic ulcer: stools, upper abdomen. Dengue: red spots, back pain. These are medically sensible, so the baseline is explainable as well as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~8:29] For inference, we tested a custom input: stiffness in the neck, swollen joints, and pain when walking. The BERT model predicted Arthritis with 81.45 percent confidence, which is the right answer. The best-epoch weights were saved as a weights.h5 file, so the model can be reloaded without retraining.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~8:51] Comparing what we set out to deliver with what we achieved. Robust multi-class prediction: achieved, with 95.4 percent for TF-IDF and 85.0 percent for BERT. The BERT versus TF-IDF comparison with all metrics and confusion matrices: achieved. Custom symptom prediction: achieved. Saved model weights: achieved. All four expected outcomes were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~9:16] To conclude: both approaches classify 24 diseases well from raw text, but TF-IDF with Logistic Regression won, with 95.4 percent against 85.0 percent for frozen BERT. Descriptions are short and keyword-rich, which favours sparse features, and TF-IDF is faster, cheaper and easier to interpret. For future work: fine-tune BERT end to end and train longer, try a clinical model such as BioBERT, use cross-validation and real patient text, and give top-5 predictions with calibrated confidence. One important caveat: this is a research prototype, not for medical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~9:57] That's our presentation. Thank you for listening, and we're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84C"/>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8C28"/>
          </a:solidFill>
          <a:ln/>
        </p:spPr>
      </p:sp>
      <p:sp>
        <p:nvSpPr>
          <p:cNvPr id="3" name="Text 1"/>
          <p:cNvSpPr txBox="1"/>
          <p:nvPr/>
        </p:nvSpPr>
        <p:spPr>
          <a:xfrm>
            <a:off x="640080" y="457200"/>
            <a:ext cx="7315200" cy="274320"/>
          </a:xfrm>
          <a:prstGeom prst="rect">
            <a:avLst/>
          </a:prstGeom>
          <a:noFill/>
          <a:ln/>
        </p:spPr>
        <p:txBody>
          <a:bodyPr wrap="square" lIns="0" tIns="0" rIns="0" bIns="0" rtlCol="0" anchor="ctr"/>
          <a:lstStyle/>
          <a:p>
            <a:pPr indent="0" marL="0">
              <a:buNone/>
            </a:pPr>
            <a:r>
              <a:rPr lang="en-US" sz="1200" b="1" spc="400" kern="0" dirty="0">
                <a:solidFill>
                  <a:srgbClr val="F28C28"/>
                </a:solidFill>
                <a:latin typeface="Calibri" pitchFamily="34" charset="0"/>
                <a:ea typeface="Calibri" pitchFamily="34" charset="-122"/>
                <a:cs typeface="Calibri" pitchFamily="34" charset="-120"/>
              </a:rPr>
              <a:t>NLP GROUP PROJECT</a:t>
            </a:r>
            <a:endParaRPr lang="en-US" sz="1200" dirty="0"/>
          </a:p>
        </p:txBody>
      </p:sp>
      <p:sp>
        <p:nvSpPr>
          <p:cNvPr id="4" name="Text 2"/>
          <p:cNvSpPr txBox="1"/>
          <p:nvPr/>
        </p:nvSpPr>
        <p:spPr>
          <a:xfrm>
            <a:off x="640080" y="822960"/>
            <a:ext cx="7863840"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Disease Classification from Symptom Text</a:t>
            </a:r>
            <a:endParaRPr lang="en-US" sz="3400" dirty="0"/>
          </a:p>
        </p:txBody>
      </p:sp>
      <p:sp>
        <p:nvSpPr>
          <p:cNvPr id="5" name="Text 3"/>
          <p:cNvSpPr txBox="1"/>
          <p:nvPr/>
        </p:nvSpPr>
        <p:spPr>
          <a:xfrm>
            <a:off x="640080" y="1691640"/>
            <a:ext cx="7498080" cy="640080"/>
          </a:xfrm>
          <a:prstGeom prst="rect">
            <a:avLst/>
          </a:prstGeom>
          <a:noFill/>
          <a:ln/>
        </p:spPr>
        <p:txBody>
          <a:bodyPr wrap="square" lIns="0" tIns="0" rIns="0" bIns="0" rtlCol="0" anchor="ctr"/>
          <a:lstStyle/>
          <a:p>
            <a:pPr indent="0" marL="0">
              <a:buNone/>
            </a:pPr>
            <a:r>
              <a:rPr lang="en-US" sz="1600" dirty="0">
                <a:solidFill>
                  <a:srgbClr val="CFE8EC"/>
                </a:solidFill>
                <a:latin typeface="Calibri" pitchFamily="34" charset="0"/>
                <a:ea typeface="Calibri" pitchFamily="34" charset="-122"/>
                <a:cs typeface="Calibri" pitchFamily="34" charset="-120"/>
              </a:rPr>
              <a:t>Frozen BERT embeddings vs. TF-IDF + Logistic Regression on the Symptom2Disease dataset (24 diseases)</a:t>
            </a:r>
            <a:endParaRPr lang="en-US" sz="1600" dirty="0"/>
          </a:p>
        </p:txBody>
      </p:sp>
      <p:sp>
        <p:nvSpPr>
          <p:cNvPr id="6" name="Text 4"/>
          <p:cNvSpPr txBox="1"/>
          <p:nvPr/>
        </p:nvSpPr>
        <p:spPr>
          <a:xfrm>
            <a:off x="640080" y="2926080"/>
            <a:ext cx="3657600" cy="274320"/>
          </a:xfrm>
          <a:prstGeom prst="rect">
            <a:avLst/>
          </a:prstGeom>
          <a:noFill/>
          <a:ln/>
        </p:spPr>
        <p:txBody>
          <a:bodyPr wrap="square" lIns="0" tIns="0" rIns="0" bIns="0" rtlCol="0" anchor="ctr"/>
          <a:lstStyle/>
          <a:p>
            <a:pPr indent="0" marL="0">
              <a:buNone/>
            </a:pPr>
            <a:r>
              <a:rPr lang="en-US" sz="1100" b="1" spc="400" kern="0" dirty="0">
                <a:solidFill>
                  <a:srgbClr val="F28C28"/>
                </a:solidFill>
                <a:latin typeface="Calibri" pitchFamily="34" charset="0"/>
                <a:ea typeface="Calibri" pitchFamily="34" charset="-122"/>
                <a:cs typeface="Calibri" pitchFamily="34" charset="-120"/>
              </a:rPr>
              <a:t>PRESENTED BY</a:t>
            </a:r>
            <a:endParaRPr lang="en-US" sz="1100" dirty="0"/>
          </a:p>
        </p:txBody>
      </p:sp>
      <p:sp>
        <p:nvSpPr>
          <p:cNvPr id="7" name="Shape 5"/>
          <p:cNvSpPr/>
          <p:nvPr/>
        </p:nvSpPr>
        <p:spPr>
          <a:xfrm>
            <a:off x="640080" y="3291840"/>
            <a:ext cx="1481328" cy="457200"/>
          </a:xfrm>
          <a:prstGeom prst="roundRect">
            <a:avLst>
              <a:gd name="adj" fmla="val 9091"/>
            </a:avLst>
          </a:prstGeom>
          <a:solidFill>
            <a:srgbClr val="1B3A70"/>
          </a:solidFill>
          <a:ln w="12700">
            <a:solidFill>
              <a:srgbClr val="0E9AA7"/>
            </a:solidFill>
            <a:prstDash val="solid"/>
          </a:ln>
        </p:spPr>
      </p:sp>
      <p:sp>
        <p:nvSpPr>
          <p:cNvPr id="10" name="Text 8"/>
          <p:cNvSpPr txBox="1"/>
          <p:nvPr/>
        </p:nvSpPr>
        <p:spPr>
          <a:xfrm>
            <a:off x="640080" y="3360420"/>
            <a:ext cx="1481328"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Krish Mehta</a:t>
            </a:r>
            <a:endParaRPr lang="en-US" sz="1200" dirty="0"/>
          </a:p>
        </p:txBody>
      </p:sp>
      <p:sp>
        <p:nvSpPr>
          <p:cNvPr id="11" name="Shape 9"/>
          <p:cNvSpPr/>
          <p:nvPr/>
        </p:nvSpPr>
        <p:spPr>
          <a:xfrm>
            <a:off x="2249424" y="3291840"/>
            <a:ext cx="1481328" cy="457200"/>
          </a:xfrm>
          <a:prstGeom prst="roundRect">
            <a:avLst>
              <a:gd name="adj" fmla="val 9091"/>
            </a:avLst>
          </a:prstGeom>
          <a:solidFill>
            <a:srgbClr val="1B3A70"/>
          </a:solidFill>
          <a:ln w="12700">
            <a:solidFill>
              <a:srgbClr val="0E9AA7"/>
            </a:solidFill>
            <a:prstDash val="solid"/>
          </a:ln>
        </p:spPr>
      </p:sp>
      <p:sp>
        <p:nvSpPr>
          <p:cNvPr id="14" name="Text 12"/>
          <p:cNvSpPr txBox="1"/>
          <p:nvPr/>
        </p:nvSpPr>
        <p:spPr>
          <a:xfrm>
            <a:off x="2249424" y="3360420"/>
            <a:ext cx="1481328"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Austin Badal</a:t>
            </a:r>
            <a:endParaRPr lang="en-US" sz="1200" dirty="0"/>
          </a:p>
        </p:txBody>
      </p:sp>
      <p:sp>
        <p:nvSpPr>
          <p:cNvPr id="15" name="Shape 13"/>
          <p:cNvSpPr/>
          <p:nvPr/>
        </p:nvSpPr>
        <p:spPr>
          <a:xfrm>
            <a:off x="3858768" y="3291840"/>
            <a:ext cx="1481328" cy="457200"/>
          </a:xfrm>
          <a:prstGeom prst="roundRect">
            <a:avLst>
              <a:gd name="adj" fmla="val 9091"/>
            </a:avLst>
          </a:prstGeom>
          <a:solidFill>
            <a:srgbClr val="1B3A70"/>
          </a:solidFill>
          <a:ln w="12700">
            <a:solidFill>
              <a:srgbClr val="0E9AA7"/>
            </a:solidFill>
            <a:prstDash val="solid"/>
          </a:ln>
        </p:spPr>
      </p:sp>
      <p:sp>
        <p:nvSpPr>
          <p:cNvPr id="18" name="Text 16"/>
          <p:cNvSpPr txBox="1"/>
          <p:nvPr/>
        </p:nvSpPr>
        <p:spPr>
          <a:xfrm>
            <a:off x="3858768" y="3360420"/>
            <a:ext cx="1481328"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Muaaz Shaikh</a:t>
            </a:r>
            <a:endParaRPr lang="en-US" sz="1200" dirty="0"/>
          </a:p>
        </p:txBody>
      </p:sp>
      <p:sp>
        <p:nvSpPr>
          <p:cNvPr id="19" name="Shape 17"/>
          <p:cNvSpPr/>
          <p:nvPr/>
        </p:nvSpPr>
        <p:spPr>
          <a:xfrm>
            <a:off x="5468112" y="3291840"/>
            <a:ext cx="1481328" cy="457200"/>
          </a:xfrm>
          <a:prstGeom prst="roundRect">
            <a:avLst>
              <a:gd name="adj" fmla="val 9091"/>
            </a:avLst>
          </a:prstGeom>
          <a:solidFill>
            <a:srgbClr val="1B3A70"/>
          </a:solidFill>
          <a:ln w="12700">
            <a:solidFill>
              <a:srgbClr val="0E9AA7"/>
            </a:solidFill>
            <a:prstDash val="solid"/>
          </a:ln>
        </p:spPr>
      </p:sp>
      <p:sp>
        <p:nvSpPr>
          <p:cNvPr id="22" name="Text 20"/>
          <p:cNvSpPr txBox="1"/>
          <p:nvPr/>
        </p:nvSpPr>
        <p:spPr>
          <a:xfrm>
            <a:off x="5468112" y="3360420"/>
            <a:ext cx="1481328"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Adnan Bagdadi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9AA7"/>
          </a:solidFill>
          <a:ln/>
        </p:spPr>
      </p:sp>
      <p:sp>
        <p:nvSpPr>
          <p:cNvPr id="3" name="Text 1"/>
          <p:cNvSpPr txBox="1"/>
          <p:nvPr/>
        </p:nvSpPr>
        <p:spPr>
          <a:xfrm>
            <a:off x="502920" y="274320"/>
            <a:ext cx="8138160" cy="548640"/>
          </a:xfrm>
          <a:prstGeom prst="rect">
            <a:avLst/>
          </a:prstGeom>
          <a:noFill/>
          <a:ln/>
        </p:spPr>
        <p:txBody>
          <a:bodyPr wrap="square" lIns="0" tIns="0" rIns="0" bIns="0" rtlCol="0" anchor="ctr"/>
          <a:lstStyle/>
          <a:p>
            <a:pPr indent="0" marL="0">
              <a:buNone/>
            </a:pPr>
            <a:r>
              <a:rPr lang="en-US" sz="2600" b="1" dirty="0">
                <a:solidFill>
                  <a:srgbClr val="12284C"/>
                </a:solidFill>
                <a:latin typeface="Calibri" pitchFamily="34" charset="0"/>
                <a:ea typeface="Calibri" pitchFamily="34" charset="-122"/>
                <a:cs typeface="Calibri" pitchFamily="34" charset="-120"/>
              </a:rPr>
              <a:t>Project Summary</a:t>
            </a:r>
            <a:endParaRPr lang="en-US" sz="2600" dirty="0"/>
          </a:p>
        </p:txBody>
      </p:sp>
      <p:sp>
        <p:nvSpPr>
          <p:cNvPr id="4" name="Text 2"/>
          <p:cNvSpPr txBox="1"/>
          <p:nvPr/>
        </p:nvSpPr>
        <p:spPr>
          <a:xfrm>
            <a:off x="502920" y="804672"/>
            <a:ext cx="813816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Overview of the project at a glance</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8138160" cy="914400"/>
        </p:xfrm>
        <a:graphic>
          <a:graphicData uri="http://schemas.openxmlformats.org/drawingml/2006/table">
            <a:tbl>
              <a:tblPr/>
              <a:tblGrid>
                <a:gridCol w="2011680"/>
                <a:gridCol w="6126480"/>
              </a:tblGrid>
              <a:tr h="42976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Project Title</a:t>
                      </a:r>
                      <a:endParaRPr lang="en-US" sz="11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2284C"/>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Disease Classification from Symptom Text: BERT vs. TF-IDF + Logistic Regression</a:t>
                      </a:r>
                      <a:endParaRPr lang="en-US" sz="11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6FA"/>
                    </a:solidFill>
                  </a:tcPr>
                </a:tc>
              </a:tr>
              <a:tr h="42976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Problem Statement</a:t>
                      </a:r>
                      <a:endParaRPr lang="en-US" sz="11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E9AA7"/>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Free-text symptom descriptions must be mapped to one of 24 diseases; it is unclear whether deep BERT embeddings beat simple TF-IDF features.</a:t>
                      </a:r>
                      <a:endParaRPr lang="en-US" sz="11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r h="42976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Objective</a:t>
                      </a:r>
                      <a:endParaRPr lang="en-US" sz="11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2284C"/>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Classify diseases from symptom text with two NLP approaches and compare them on the same split.</a:t>
                      </a:r>
                      <a:endParaRPr lang="en-US" sz="11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6FA"/>
                    </a:solidFill>
                  </a:tcPr>
                </a:tc>
              </a:tr>
              <a:tr h="42976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Scope</a:t>
                      </a:r>
                      <a:endParaRPr lang="en-US" sz="11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E9AA7"/>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Cleaning, EDA, model building (70/15/15 split), evaluation, custom prediction, model saving.</a:t>
                      </a:r>
                      <a:endParaRPr lang="en-US" sz="11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r h="42976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Proposed Solution</a:t>
                      </a:r>
                      <a:endParaRPr lang="en-US" sz="11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2284C"/>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Model A: frozen BERT + dense head. Model B: TF-IDF (1–2 grams) + Logistic Regression.</a:t>
                      </a:r>
                      <a:endParaRPr lang="en-US" sz="11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6FA"/>
                    </a:solidFill>
                  </a:tcPr>
                </a:tc>
              </a:tr>
              <a:tr h="42976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Dataset</a:t>
                      </a:r>
                      <a:endParaRPr lang="en-US" sz="11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E9AA7"/>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Symptom2Disease: 1,200 rows (1,153 after de-duplication), 24 diseases, text + label.</a:t>
                      </a:r>
                      <a:endParaRPr lang="en-US" sz="11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r h="42976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NLP Techniques / Models</a:t>
                      </a:r>
                      <a:endParaRPr lang="en-US" sz="11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2284C"/>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Text cleaning, TF-IDF, BERT tokenization (max_len 170), BERT + dense layers, Logistic Regression.</a:t>
                      </a:r>
                      <a:endParaRPr lang="en-US" sz="11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6FA"/>
                    </a:solidFill>
                  </a:tcPr>
                </a:tc>
              </a:tr>
              <a:tr h="42976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Expected Outcome</a:t>
                      </a:r>
                      <a:endParaRPr lang="en-US" sz="11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0E9AA7"/>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Accurate multi-class prediction, metric comparison (Accuracy, Macro/Weighted-F1) and saved model.</a:t>
                      </a:r>
                      <a:endParaRPr lang="en-US" sz="11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9AA7"/>
          </a:solidFill>
          <a:ln/>
        </p:spPr>
      </p:sp>
      <p:sp>
        <p:nvSpPr>
          <p:cNvPr id="3" name="Text 1"/>
          <p:cNvSpPr txBox="1"/>
          <p:nvPr/>
        </p:nvSpPr>
        <p:spPr>
          <a:xfrm>
            <a:off x="502920" y="274320"/>
            <a:ext cx="8138160" cy="548640"/>
          </a:xfrm>
          <a:prstGeom prst="rect">
            <a:avLst/>
          </a:prstGeom>
          <a:noFill/>
          <a:ln/>
        </p:spPr>
        <p:txBody>
          <a:bodyPr wrap="square" lIns="0" tIns="0" rIns="0" bIns="0" rtlCol="0" anchor="ctr"/>
          <a:lstStyle/>
          <a:p>
            <a:pPr indent="0" marL="0">
              <a:buNone/>
            </a:pPr>
            <a:r>
              <a:rPr lang="en-US" sz="2600" b="1" dirty="0">
                <a:solidFill>
                  <a:srgbClr val="12284C"/>
                </a:solidFill>
                <a:latin typeface="Calibri" pitchFamily="34" charset="0"/>
                <a:ea typeface="Calibri" pitchFamily="34" charset="-122"/>
                <a:cs typeface="Calibri" pitchFamily="34" charset="-120"/>
              </a:rPr>
              <a:t>Problem Statement</a:t>
            </a:r>
            <a:endParaRPr lang="en-US" sz="2600" dirty="0"/>
          </a:p>
        </p:txBody>
      </p:sp>
      <p:sp>
        <p:nvSpPr>
          <p:cNvPr id="4" name="Text 2"/>
          <p:cNvSpPr txBox="1"/>
          <p:nvPr/>
        </p:nvSpPr>
        <p:spPr>
          <a:xfrm>
            <a:off x="502920" y="804672"/>
            <a:ext cx="813816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Why this problem matters</a:t>
            </a:r>
            <a:endParaRPr lang="en-US" sz="1300" dirty="0"/>
          </a:p>
        </p:txBody>
      </p:sp>
      <p:sp>
        <p:nvSpPr>
          <p:cNvPr id="5" name="Shape 3"/>
          <p:cNvSpPr/>
          <p:nvPr/>
        </p:nvSpPr>
        <p:spPr>
          <a:xfrm>
            <a:off x="502920" y="1280160"/>
            <a:ext cx="8138160" cy="914400"/>
          </a:xfrm>
          <a:prstGeom prst="roundRect">
            <a:avLst>
              <a:gd name="adj" fmla="val 10000"/>
            </a:avLst>
          </a:prstGeom>
          <a:solidFill>
            <a:srgbClr val="F3F6FA"/>
          </a:solidFill>
          <a:ln w="12700">
            <a:solidFill>
              <a:srgbClr val="F3F6FA"/>
            </a:solidFill>
            <a:prstDash val="solid"/>
          </a:ln>
        </p:spPr>
      </p:sp>
      <p:sp>
        <p:nvSpPr>
          <p:cNvPr id="6" name="Shape 4"/>
          <p:cNvSpPr/>
          <p:nvPr/>
        </p:nvSpPr>
        <p:spPr>
          <a:xfrm>
            <a:off x="502920" y="1280160"/>
            <a:ext cx="91440" cy="914400"/>
          </a:xfrm>
          <a:prstGeom prst="rect">
            <a:avLst/>
          </a:prstGeom>
          <a:solidFill>
            <a:srgbClr val="12284C"/>
          </a:solidFill>
          <a:ln/>
        </p:spPr>
      </p:sp>
      <p:sp>
        <p:nvSpPr>
          <p:cNvPr id="7" name="Text 5"/>
          <p:cNvSpPr txBox="1"/>
          <p:nvPr/>
        </p:nvSpPr>
        <p:spPr>
          <a:xfrm>
            <a:off x="777240" y="1371600"/>
            <a:ext cx="2194560" cy="731520"/>
          </a:xfrm>
          <a:prstGeom prst="rect">
            <a:avLst/>
          </a:prstGeom>
          <a:noFill/>
          <a:ln/>
        </p:spPr>
        <p:txBody>
          <a:bodyPr wrap="square" lIns="0" tIns="0" rIns="0" bIns="0" rtlCol="0" anchor="ctr"/>
          <a:lstStyle/>
          <a:p>
            <a:pPr indent="0" marL="0">
              <a:buNone/>
            </a:pPr>
            <a:r>
              <a:rPr lang="en-US" sz="1600" b="1" dirty="0">
                <a:solidFill>
                  <a:srgbClr val="12284C"/>
                </a:solidFill>
                <a:latin typeface="Calibri" pitchFamily="34" charset="0"/>
                <a:ea typeface="Calibri" pitchFamily="34" charset="-122"/>
                <a:cs typeface="Calibri" pitchFamily="34" charset="-120"/>
              </a:rPr>
              <a:t>The challenge</a:t>
            </a:r>
            <a:endParaRPr lang="en-US" sz="1600" dirty="0"/>
          </a:p>
        </p:txBody>
      </p:sp>
      <p:sp>
        <p:nvSpPr>
          <p:cNvPr id="8" name="Text 6"/>
          <p:cNvSpPr txBox="1"/>
          <p:nvPr/>
        </p:nvSpPr>
        <p:spPr>
          <a:xfrm>
            <a:off x="3017520" y="1371600"/>
            <a:ext cx="5486400" cy="7315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Symptoms are described in everyday language, in varied wording and lengths (12–55 words).</a:t>
            </a:r>
            <a:endParaRPr lang="en-US" sz="1400" dirty="0"/>
          </a:p>
        </p:txBody>
      </p:sp>
      <p:sp>
        <p:nvSpPr>
          <p:cNvPr id="9" name="Shape 7"/>
          <p:cNvSpPr/>
          <p:nvPr/>
        </p:nvSpPr>
        <p:spPr>
          <a:xfrm>
            <a:off x="502920" y="2331720"/>
            <a:ext cx="8138160" cy="914400"/>
          </a:xfrm>
          <a:prstGeom prst="roundRect">
            <a:avLst>
              <a:gd name="adj" fmla="val 10000"/>
            </a:avLst>
          </a:prstGeom>
          <a:solidFill>
            <a:srgbClr val="F3F6FA"/>
          </a:solidFill>
          <a:ln w="12700">
            <a:solidFill>
              <a:srgbClr val="F3F6FA"/>
            </a:solidFill>
            <a:prstDash val="solid"/>
          </a:ln>
        </p:spPr>
      </p:sp>
      <p:sp>
        <p:nvSpPr>
          <p:cNvPr id="10" name="Shape 8"/>
          <p:cNvSpPr/>
          <p:nvPr/>
        </p:nvSpPr>
        <p:spPr>
          <a:xfrm>
            <a:off x="502920" y="2331720"/>
            <a:ext cx="91440" cy="914400"/>
          </a:xfrm>
          <a:prstGeom prst="rect">
            <a:avLst/>
          </a:prstGeom>
          <a:solidFill>
            <a:srgbClr val="0E9AA7"/>
          </a:solidFill>
          <a:ln/>
        </p:spPr>
      </p:sp>
      <p:sp>
        <p:nvSpPr>
          <p:cNvPr id="11" name="Text 9"/>
          <p:cNvSpPr txBox="1"/>
          <p:nvPr/>
        </p:nvSpPr>
        <p:spPr>
          <a:xfrm>
            <a:off x="777240" y="2423160"/>
            <a:ext cx="2194560" cy="731520"/>
          </a:xfrm>
          <a:prstGeom prst="rect">
            <a:avLst/>
          </a:prstGeom>
          <a:noFill/>
          <a:ln/>
        </p:spPr>
        <p:txBody>
          <a:bodyPr wrap="square" lIns="0" tIns="0" rIns="0" bIns="0" rtlCol="0" anchor="ctr"/>
          <a:lstStyle/>
          <a:p>
            <a:pPr indent="0" marL="0">
              <a:buNone/>
            </a:pPr>
            <a:r>
              <a:rPr lang="en-US" sz="1600" b="1" dirty="0">
                <a:solidFill>
                  <a:srgbClr val="12284C"/>
                </a:solidFill>
                <a:latin typeface="Calibri" pitchFamily="34" charset="0"/>
                <a:ea typeface="Calibri" pitchFamily="34" charset="-122"/>
                <a:cs typeface="Calibri" pitchFamily="34" charset="-120"/>
              </a:rPr>
              <a:t>The need</a:t>
            </a:r>
            <a:endParaRPr lang="en-US" sz="1600" dirty="0"/>
          </a:p>
        </p:txBody>
      </p:sp>
      <p:sp>
        <p:nvSpPr>
          <p:cNvPr id="12" name="Text 10"/>
          <p:cNvSpPr txBox="1"/>
          <p:nvPr/>
        </p:nvSpPr>
        <p:spPr>
          <a:xfrm>
            <a:off x="3017520" y="2423160"/>
            <a:ext cx="5486400" cy="7315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A system that maps a description to the most probable disease among 24 classes.</a:t>
            </a:r>
            <a:endParaRPr lang="en-US" sz="1400" dirty="0"/>
          </a:p>
        </p:txBody>
      </p:sp>
      <p:sp>
        <p:nvSpPr>
          <p:cNvPr id="13" name="Shape 11"/>
          <p:cNvSpPr/>
          <p:nvPr/>
        </p:nvSpPr>
        <p:spPr>
          <a:xfrm>
            <a:off x="502920" y="3383280"/>
            <a:ext cx="8138160" cy="914400"/>
          </a:xfrm>
          <a:prstGeom prst="roundRect">
            <a:avLst>
              <a:gd name="adj" fmla="val 10000"/>
            </a:avLst>
          </a:prstGeom>
          <a:solidFill>
            <a:srgbClr val="F3F6FA"/>
          </a:solidFill>
          <a:ln w="12700">
            <a:solidFill>
              <a:srgbClr val="F3F6FA"/>
            </a:solidFill>
            <a:prstDash val="solid"/>
          </a:ln>
        </p:spPr>
      </p:sp>
      <p:sp>
        <p:nvSpPr>
          <p:cNvPr id="14" name="Shape 12"/>
          <p:cNvSpPr/>
          <p:nvPr/>
        </p:nvSpPr>
        <p:spPr>
          <a:xfrm>
            <a:off x="502920" y="3383280"/>
            <a:ext cx="91440" cy="914400"/>
          </a:xfrm>
          <a:prstGeom prst="rect">
            <a:avLst/>
          </a:prstGeom>
          <a:solidFill>
            <a:srgbClr val="F28C28"/>
          </a:solidFill>
          <a:ln/>
        </p:spPr>
      </p:sp>
      <p:sp>
        <p:nvSpPr>
          <p:cNvPr id="15" name="Text 13"/>
          <p:cNvSpPr txBox="1"/>
          <p:nvPr/>
        </p:nvSpPr>
        <p:spPr>
          <a:xfrm>
            <a:off x="777240" y="3474720"/>
            <a:ext cx="2194560" cy="731520"/>
          </a:xfrm>
          <a:prstGeom prst="rect">
            <a:avLst/>
          </a:prstGeom>
          <a:noFill/>
          <a:ln/>
        </p:spPr>
        <p:txBody>
          <a:bodyPr wrap="square" lIns="0" tIns="0" rIns="0" bIns="0" rtlCol="0" anchor="ctr"/>
          <a:lstStyle/>
          <a:p>
            <a:pPr indent="0" marL="0">
              <a:buNone/>
            </a:pPr>
            <a:r>
              <a:rPr lang="en-US" sz="1600" b="1" dirty="0">
                <a:solidFill>
                  <a:srgbClr val="12284C"/>
                </a:solidFill>
                <a:latin typeface="Calibri" pitchFamily="34" charset="0"/>
                <a:ea typeface="Calibri" pitchFamily="34" charset="-122"/>
                <a:cs typeface="Calibri" pitchFamily="34" charset="-120"/>
              </a:rPr>
              <a:t>The open question</a:t>
            </a:r>
            <a:endParaRPr lang="en-US" sz="1600" dirty="0"/>
          </a:p>
        </p:txBody>
      </p:sp>
      <p:sp>
        <p:nvSpPr>
          <p:cNvPr id="16" name="Text 14"/>
          <p:cNvSpPr txBox="1"/>
          <p:nvPr/>
        </p:nvSpPr>
        <p:spPr>
          <a:xfrm>
            <a:off x="3017520" y="3474720"/>
            <a:ext cx="5486400" cy="7315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Do costly contextual embeddings (BERT) beat a simple TF-IDF baseline on short symptom text?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9AA7"/>
          </a:solidFill>
          <a:ln/>
        </p:spPr>
      </p:sp>
      <p:sp>
        <p:nvSpPr>
          <p:cNvPr id="3" name="Text 1"/>
          <p:cNvSpPr txBox="1"/>
          <p:nvPr/>
        </p:nvSpPr>
        <p:spPr>
          <a:xfrm>
            <a:off x="502920" y="274320"/>
            <a:ext cx="8138160" cy="548640"/>
          </a:xfrm>
          <a:prstGeom prst="rect">
            <a:avLst/>
          </a:prstGeom>
          <a:noFill/>
          <a:ln/>
        </p:spPr>
        <p:txBody>
          <a:bodyPr wrap="square" lIns="0" tIns="0" rIns="0" bIns="0" rtlCol="0" anchor="ctr"/>
          <a:lstStyle/>
          <a:p>
            <a:pPr indent="0" marL="0">
              <a:buNone/>
            </a:pPr>
            <a:r>
              <a:rPr lang="en-US" sz="2600" b="1" dirty="0">
                <a:solidFill>
                  <a:srgbClr val="12284C"/>
                </a:solidFill>
                <a:latin typeface="Calibri" pitchFamily="34" charset="0"/>
                <a:ea typeface="Calibri" pitchFamily="34" charset="-122"/>
                <a:cs typeface="Calibri" pitchFamily="34" charset="-120"/>
              </a:rPr>
              <a:t>Objective</a:t>
            </a:r>
            <a:endParaRPr lang="en-US" sz="2600" dirty="0"/>
          </a:p>
        </p:txBody>
      </p:sp>
      <p:sp>
        <p:nvSpPr>
          <p:cNvPr id="4" name="Text 2"/>
          <p:cNvSpPr txBox="1"/>
          <p:nvPr/>
        </p:nvSpPr>
        <p:spPr>
          <a:xfrm>
            <a:off x="502920" y="1097280"/>
            <a:ext cx="8138160" cy="82296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Classify diseases from natural-language symptom descriptions using two distinct NLP approaches and compare them on the exact same data split.</a:t>
            </a:r>
            <a:endParaRPr lang="en-US" sz="1800" dirty="0"/>
          </a:p>
        </p:txBody>
      </p:sp>
      <p:sp>
        <p:nvSpPr>
          <p:cNvPr id="5" name="Shape 3"/>
          <p:cNvSpPr/>
          <p:nvPr/>
        </p:nvSpPr>
        <p:spPr>
          <a:xfrm>
            <a:off x="502920" y="2194560"/>
            <a:ext cx="3931920" cy="2103120"/>
          </a:xfrm>
          <a:prstGeom prst="roundRect">
            <a:avLst>
              <a:gd name="adj" fmla="val 4348"/>
            </a:avLst>
          </a:prstGeom>
          <a:solidFill>
            <a:srgbClr val="F3F6FA"/>
          </a:solidFill>
          <a:ln w="12700">
            <a:solidFill>
              <a:srgbClr val="F3F6FA"/>
            </a:solidFill>
            <a:prstDash val="solid"/>
          </a:ln>
        </p:spPr>
      </p:sp>
      <p:sp>
        <p:nvSpPr>
          <p:cNvPr id="6" name="Shape 4"/>
          <p:cNvSpPr/>
          <p:nvPr/>
        </p:nvSpPr>
        <p:spPr>
          <a:xfrm>
            <a:off x="502920" y="2194560"/>
            <a:ext cx="91440" cy="2103120"/>
          </a:xfrm>
          <a:prstGeom prst="rect">
            <a:avLst/>
          </a:prstGeom>
          <a:solidFill>
            <a:srgbClr val="12284C"/>
          </a:solidFill>
          <a:ln/>
        </p:spPr>
      </p:sp>
      <p:sp>
        <p:nvSpPr>
          <p:cNvPr id="7" name="Text 5"/>
          <p:cNvSpPr txBox="1"/>
          <p:nvPr/>
        </p:nvSpPr>
        <p:spPr>
          <a:xfrm>
            <a:off x="777240" y="2331720"/>
            <a:ext cx="3474720" cy="457200"/>
          </a:xfrm>
          <a:prstGeom prst="rect">
            <a:avLst/>
          </a:prstGeom>
          <a:noFill/>
          <a:ln/>
        </p:spPr>
        <p:txBody>
          <a:bodyPr wrap="square" lIns="0" tIns="0" rIns="0" bIns="0" rtlCol="0" anchor="ctr"/>
          <a:lstStyle/>
          <a:p>
            <a:pPr indent="0" marL="0">
              <a:buNone/>
            </a:pPr>
            <a:r>
              <a:rPr lang="en-US" sz="2200" b="1" dirty="0">
                <a:solidFill>
                  <a:srgbClr val="12284C"/>
                </a:solidFill>
                <a:latin typeface="Calibri" pitchFamily="34" charset="0"/>
                <a:ea typeface="Calibri" pitchFamily="34" charset="-122"/>
                <a:cs typeface="Calibri" pitchFamily="34" charset="-120"/>
              </a:rPr>
              <a:t>Model A</a:t>
            </a:r>
            <a:endParaRPr lang="en-US" sz="2200" dirty="0"/>
          </a:p>
        </p:txBody>
      </p:sp>
      <p:sp>
        <p:nvSpPr>
          <p:cNvPr id="8" name="Text 6"/>
          <p:cNvSpPr txBox="1"/>
          <p:nvPr/>
        </p:nvSpPr>
        <p:spPr>
          <a:xfrm>
            <a:off x="777240" y="2880360"/>
            <a:ext cx="3474720" cy="118872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Deep learning: frozen pretrained BERT + custom dense classifier head</a:t>
            </a:r>
            <a:endParaRPr lang="en-US" sz="1600" dirty="0"/>
          </a:p>
        </p:txBody>
      </p:sp>
      <p:sp>
        <p:nvSpPr>
          <p:cNvPr id="9" name="Shape 7"/>
          <p:cNvSpPr/>
          <p:nvPr/>
        </p:nvSpPr>
        <p:spPr>
          <a:xfrm>
            <a:off x="4663440" y="2194560"/>
            <a:ext cx="3931920" cy="2103120"/>
          </a:xfrm>
          <a:prstGeom prst="roundRect">
            <a:avLst>
              <a:gd name="adj" fmla="val 4348"/>
            </a:avLst>
          </a:prstGeom>
          <a:solidFill>
            <a:srgbClr val="F3F6FA"/>
          </a:solidFill>
          <a:ln w="12700">
            <a:solidFill>
              <a:srgbClr val="F3F6FA"/>
            </a:solidFill>
            <a:prstDash val="solid"/>
          </a:ln>
        </p:spPr>
      </p:sp>
      <p:sp>
        <p:nvSpPr>
          <p:cNvPr id="10" name="Shape 8"/>
          <p:cNvSpPr/>
          <p:nvPr/>
        </p:nvSpPr>
        <p:spPr>
          <a:xfrm>
            <a:off x="4663440" y="2194560"/>
            <a:ext cx="91440" cy="2103120"/>
          </a:xfrm>
          <a:prstGeom prst="rect">
            <a:avLst/>
          </a:prstGeom>
          <a:solidFill>
            <a:srgbClr val="0E9AA7"/>
          </a:solidFill>
          <a:ln/>
        </p:spPr>
      </p:sp>
      <p:sp>
        <p:nvSpPr>
          <p:cNvPr id="11" name="Text 9"/>
          <p:cNvSpPr txBox="1"/>
          <p:nvPr/>
        </p:nvSpPr>
        <p:spPr>
          <a:xfrm>
            <a:off x="4937760" y="2331720"/>
            <a:ext cx="3474720" cy="457200"/>
          </a:xfrm>
          <a:prstGeom prst="rect">
            <a:avLst/>
          </a:prstGeom>
          <a:noFill/>
          <a:ln/>
        </p:spPr>
        <p:txBody>
          <a:bodyPr wrap="square" lIns="0" tIns="0" rIns="0" bIns="0" rtlCol="0" anchor="ctr"/>
          <a:lstStyle/>
          <a:p>
            <a:pPr indent="0" marL="0">
              <a:buNone/>
            </a:pPr>
            <a:r>
              <a:rPr lang="en-US" sz="2200" b="1" dirty="0">
                <a:solidFill>
                  <a:srgbClr val="0E9AA7"/>
                </a:solidFill>
                <a:latin typeface="Calibri" pitchFamily="34" charset="0"/>
                <a:ea typeface="Calibri" pitchFamily="34" charset="-122"/>
                <a:cs typeface="Calibri" pitchFamily="34" charset="-120"/>
              </a:rPr>
              <a:t>Model B</a:t>
            </a:r>
            <a:endParaRPr lang="en-US" sz="2200" dirty="0"/>
          </a:p>
        </p:txBody>
      </p:sp>
      <p:sp>
        <p:nvSpPr>
          <p:cNvPr id="12" name="Text 10"/>
          <p:cNvSpPr txBox="1"/>
          <p:nvPr/>
        </p:nvSpPr>
        <p:spPr>
          <a:xfrm>
            <a:off x="4937760" y="2880360"/>
            <a:ext cx="3474720" cy="118872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Traditional ML baseline: TF-IDF + Logistic Regression</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9AA7"/>
          </a:solidFill>
          <a:ln/>
        </p:spPr>
      </p:sp>
      <p:sp>
        <p:nvSpPr>
          <p:cNvPr id="3" name="Text 1"/>
          <p:cNvSpPr txBox="1"/>
          <p:nvPr/>
        </p:nvSpPr>
        <p:spPr>
          <a:xfrm>
            <a:off x="502920" y="274320"/>
            <a:ext cx="8138160" cy="548640"/>
          </a:xfrm>
          <a:prstGeom prst="rect">
            <a:avLst/>
          </a:prstGeom>
          <a:noFill/>
          <a:ln/>
        </p:spPr>
        <p:txBody>
          <a:bodyPr wrap="square" lIns="0" tIns="0" rIns="0" bIns="0" rtlCol="0" anchor="ctr"/>
          <a:lstStyle/>
          <a:p>
            <a:pPr indent="0" marL="0">
              <a:buNone/>
            </a:pPr>
            <a:r>
              <a:rPr lang="en-US" sz="2600" b="1" dirty="0">
                <a:solidFill>
                  <a:srgbClr val="12284C"/>
                </a:solidFill>
                <a:latin typeface="Calibri" pitchFamily="34" charset="0"/>
                <a:ea typeface="Calibri" pitchFamily="34" charset="-122"/>
                <a:cs typeface="Calibri" pitchFamily="34" charset="-120"/>
              </a:rPr>
              <a:t>Scope</a:t>
            </a:r>
            <a:endParaRPr lang="en-US" sz="2600" dirty="0"/>
          </a:p>
        </p:txBody>
      </p:sp>
      <p:sp>
        <p:nvSpPr>
          <p:cNvPr id="4" name="Shape 2"/>
          <p:cNvSpPr/>
          <p:nvPr/>
        </p:nvSpPr>
        <p:spPr>
          <a:xfrm>
            <a:off x="502920" y="1143000"/>
            <a:ext cx="457200" cy="457200"/>
          </a:xfrm>
          <a:prstGeom prst="ellipse">
            <a:avLst/>
          </a:prstGeom>
          <a:solidFill>
            <a:srgbClr val="12284C"/>
          </a:solidFill>
          <a:ln/>
        </p:spPr>
      </p:sp>
      <p:sp>
        <p:nvSpPr>
          <p:cNvPr id="5" name="Text 3"/>
          <p:cNvSpPr txBox="1"/>
          <p:nvPr/>
        </p:nvSpPr>
        <p:spPr>
          <a:xfrm>
            <a:off x="502920" y="1143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88720" y="1097280"/>
            <a:ext cx="7223760" cy="292608"/>
          </a:xfrm>
          <a:prstGeom prst="rect">
            <a:avLst/>
          </a:prstGeom>
          <a:noFill/>
          <a:ln/>
        </p:spPr>
        <p:txBody>
          <a:bodyPr wrap="square" lIns="0" tIns="0" rIns="0" bIns="0" rtlCol="0" anchor="ctr"/>
          <a:lstStyle/>
          <a:p>
            <a:pPr indent="0" marL="0">
              <a:buNone/>
            </a:pPr>
            <a:r>
              <a:rPr lang="en-US" sz="1600" b="1" dirty="0">
                <a:solidFill>
                  <a:srgbClr val="12284C"/>
                </a:solidFill>
                <a:latin typeface="Calibri" pitchFamily="34" charset="0"/>
                <a:ea typeface="Calibri" pitchFamily="34" charset="-122"/>
                <a:cs typeface="Calibri" pitchFamily="34" charset="-120"/>
              </a:rPr>
              <a:t>Data Preparation</a:t>
            </a:r>
            <a:endParaRPr lang="en-US" sz="1600" dirty="0"/>
          </a:p>
        </p:txBody>
      </p:sp>
      <p:sp>
        <p:nvSpPr>
          <p:cNvPr id="7" name="Text 5"/>
          <p:cNvSpPr txBox="1"/>
          <p:nvPr/>
        </p:nvSpPr>
        <p:spPr>
          <a:xfrm>
            <a:off x="1188720" y="1389888"/>
            <a:ext cx="7223760" cy="2743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Load, inspect, clean and preprocess text</a:t>
            </a:r>
            <a:endParaRPr lang="en-US" sz="1300" dirty="0"/>
          </a:p>
        </p:txBody>
      </p:sp>
      <p:sp>
        <p:nvSpPr>
          <p:cNvPr id="8" name="Shape 6"/>
          <p:cNvSpPr/>
          <p:nvPr/>
        </p:nvSpPr>
        <p:spPr>
          <a:xfrm>
            <a:off x="502920" y="1911096"/>
            <a:ext cx="457200" cy="457200"/>
          </a:xfrm>
          <a:prstGeom prst="ellipse">
            <a:avLst/>
          </a:prstGeom>
          <a:solidFill>
            <a:srgbClr val="0E9AA7"/>
          </a:solidFill>
          <a:ln/>
        </p:spPr>
      </p:sp>
      <p:sp>
        <p:nvSpPr>
          <p:cNvPr id="9" name="Text 7"/>
          <p:cNvSpPr txBox="1"/>
          <p:nvPr/>
        </p:nvSpPr>
        <p:spPr>
          <a:xfrm>
            <a:off x="502920" y="191109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188720" y="1865376"/>
            <a:ext cx="7223760" cy="292608"/>
          </a:xfrm>
          <a:prstGeom prst="rect">
            <a:avLst/>
          </a:prstGeom>
          <a:noFill/>
          <a:ln/>
        </p:spPr>
        <p:txBody>
          <a:bodyPr wrap="square" lIns="0" tIns="0" rIns="0" bIns="0" rtlCol="0" anchor="ctr"/>
          <a:lstStyle/>
          <a:p>
            <a:pPr indent="0" marL="0">
              <a:buNone/>
            </a:pPr>
            <a:r>
              <a:rPr lang="en-US" sz="1600" b="1" dirty="0">
                <a:solidFill>
                  <a:srgbClr val="12284C"/>
                </a:solidFill>
                <a:latin typeface="Calibri" pitchFamily="34" charset="0"/>
                <a:ea typeface="Calibri" pitchFamily="34" charset="-122"/>
                <a:cs typeface="Calibri" pitchFamily="34" charset="-120"/>
              </a:rPr>
              <a:t>Exploratory Analysis</a:t>
            </a:r>
            <a:endParaRPr lang="en-US" sz="1600" dirty="0"/>
          </a:p>
        </p:txBody>
      </p:sp>
      <p:sp>
        <p:nvSpPr>
          <p:cNvPr id="11" name="Text 9"/>
          <p:cNvSpPr txBox="1"/>
          <p:nvPr/>
        </p:nvSpPr>
        <p:spPr>
          <a:xfrm>
            <a:off x="1188720" y="2157984"/>
            <a:ext cx="7223760" cy="2743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Class distribution and WordClouds</a:t>
            </a:r>
            <a:endParaRPr lang="en-US" sz="1300" dirty="0"/>
          </a:p>
        </p:txBody>
      </p:sp>
      <p:sp>
        <p:nvSpPr>
          <p:cNvPr id="12" name="Shape 10"/>
          <p:cNvSpPr/>
          <p:nvPr/>
        </p:nvSpPr>
        <p:spPr>
          <a:xfrm>
            <a:off x="502920" y="2679192"/>
            <a:ext cx="457200" cy="457200"/>
          </a:xfrm>
          <a:prstGeom prst="ellipse">
            <a:avLst/>
          </a:prstGeom>
          <a:solidFill>
            <a:srgbClr val="12284C"/>
          </a:solidFill>
          <a:ln/>
        </p:spPr>
      </p:sp>
      <p:sp>
        <p:nvSpPr>
          <p:cNvPr id="13" name="Text 11"/>
          <p:cNvSpPr txBox="1"/>
          <p:nvPr/>
        </p:nvSpPr>
        <p:spPr>
          <a:xfrm>
            <a:off x="502920" y="267919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188720" y="2633472"/>
            <a:ext cx="7223760" cy="292608"/>
          </a:xfrm>
          <a:prstGeom prst="rect">
            <a:avLst/>
          </a:prstGeom>
          <a:noFill/>
          <a:ln/>
        </p:spPr>
        <p:txBody>
          <a:bodyPr wrap="square" lIns="0" tIns="0" rIns="0" bIns="0" rtlCol="0" anchor="ctr"/>
          <a:lstStyle/>
          <a:p>
            <a:pPr indent="0" marL="0">
              <a:buNone/>
            </a:pPr>
            <a:r>
              <a:rPr lang="en-US" sz="1600" b="1" dirty="0">
                <a:solidFill>
                  <a:srgbClr val="12284C"/>
                </a:solidFill>
                <a:latin typeface="Calibri" pitchFamily="34" charset="0"/>
                <a:ea typeface="Calibri" pitchFamily="34" charset="-122"/>
                <a:cs typeface="Calibri" pitchFamily="34" charset="-120"/>
              </a:rPr>
              <a:t>Model Implementation</a:t>
            </a:r>
            <a:endParaRPr lang="en-US" sz="1600" dirty="0"/>
          </a:p>
        </p:txBody>
      </p:sp>
      <p:sp>
        <p:nvSpPr>
          <p:cNvPr id="15" name="Text 13"/>
          <p:cNvSpPr txBox="1"/>
          <p:nvPr/>
        </p:nvSpPr>
        <p:spPr>
          <a:xfrm>
            <a:off x="1188720" y="2926080"/>
            <a:ext cx="7223760" cy="2743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BERT classifier + TF-IDF/LR on a stratified 70/15/15 split</a:t>
            </a:r>
            <a:endParaRPr lang="en-US" sz="1300" dirty="0"/>
          </a:p>
        </p:txBody>
      </p:sp>
      <p:sp>
        <p:nvSpPr>
          <p:cNvPr id="16" name="Shape 14"/>
          <p:cNvSpPr/>
          <p:nvPr/>
        </p:nvSpPr>
        <p:spPr>
          <a:xfrm>
            <a:off x="502920" y="3447288"/>
            <a:ext cx="457200" cy="457200"/>
          </a:xfrm>
          <a:prstGeom prst="ellipse">
            <a:avLst/>
          </a:prstGeom>
          <a:solidFill>
            <a:srgbClr val="0E9AA7"/>
          </a:solidFill>
          <a:ln/>
        </p:spPr>
      </p:sp>
      <p:sp>
        <p:nvSpPr>
          <p:cNvPr id="17" name="Text 15"/>
          <p:cNvSpPr txBox="1"/>
          <p:nvPr/>
        </p:nvSpPr>
        <p:spPr>
          <a:xfrm>
            <a:off x="502920" y="34472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1188720" y="3401568"/>
            <a:ext cx="7223760" cy="292608"/>
          </a:xfrm>
          <a:prstGeom prst="rect">
            <a:avLst/>
          </a:prstGeom>
          <a:noFill/>
          <a:ln/>
        </p:spPr>
        <p:txBody>
          <a:bodyPr wrap="square" lIns="0" tIns="0" rIns="0" bIns="0" rtlCol="0" anchor="ctr"/>
          <a:lstStyle/>
          <a:p>
            <a:pPr indent="0" marL="0">
              <a:buNone/>
            </a:pPr>
            <a:r>
              <a:rPr lang="en-US" sz="1600" b="1" dirty="0">
                <a:solidFill>
                  <a:srgbClr val="12284C"/>
                </a:solidFill>
                <a:latin typeface="Calibri" pitchFamily="34" charset="0"/>
                <a:ea typeface="Calibri" pitchFamily="34" charset="-122"/>
                <a:cs typeface="Calibri" pitchFamily="34" charset="-120"/>
              </a:rPr>
              <a:t>Evaluation &amp; Comparison</a:t>
            </a:r>
            <a:endParaRPr lang="en-US" sz="1600" dirty="0"/>
          </a:p>
        </p:txBody>
      </p:sp>
      <p:sp>
        <p:nvSpPr>
          <p:cNvPr id="19" name="Text 17"/>
          <p:cNvSpPr txBox="1"/>
          <p:nvPr/>
        </p:nvSpPr>
        <p:spPr>
          <a:xfrm>
            <a:off x="1188720" y="3694176"/>
            <a:ext cx="7223760" cy="2743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Accuracy, Macro-F1, Weighted-F1, reports, confusion matrices</a:t>
            </a:r>
            <a:endParaRPr lang="en-US" sz="1300" dirty="0"/>
          </a:p>
        </p:txBody>
      </p:sp>
      <p:sp>
        <p:nvSpPr>
          <p:cNvPr id="20" name="Shape 18"/>
          <p:cNvSpPr/>
          <p:nvPr/>
        </p:nvSpPr>
        <p:spPr>
          <a:xfrm>
            <a:off x="502920" y="4215384"/>
            <a:ext cx="457200" cy="457200"/>
          </a:xfrm>
          <a:prstGeom prst="ellipse">
            <a:avLst/>
          </a:prstGeom>
          <a:solidFill>
            <a:srgbClr val="12284C"/>
          </a:solidFill>
          <a:ln/>
        </p:spPr>
      </p:sp>
      <p:sp>
        <p:nvSpPr>
          <p:cNvPr id="21" name="Text 19"/>
          <p:cNvSpPr txBox="1"/>
          <p:nvPr/>
        </p:nvSpPr>
        <p:spPr>
          <a:xfrm>
            <a:off x="502920" y="421538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2" name="Text 20"/>
          <p:cNvSpPr txBox="1"/>
          <p:nvPr/>
        </p:nvSpPr>
        <p:spPr>
          <a:xfrm>
            <a:off x="1188720" y="4169664"/>
            <a:ext cx="7223760" cy="292608"/>
          </a:xfrm>
          <a:prstGeom prst="rect">
            <a:avLst/>
          </a:prstGeom>
          <a:noFill/>
          <a:ln/>
        </p:spPr>
        <p:txBody>
          <a:bodyPr wrap="square" lIns="0" tIns="0" rIns="0" bIns="0" rtlCol="0" anchor="ctr"/>
          <a:lstStyle/>
          <a:p>
            <a:pPr indent="0" marL="0">
              <a:buNone/>
            </a:pPr>
            <a:r>
              <a:rPr lang="en-US" sz="1600" b="1" dirty="0">
                <a:solidFill>
                  <a:srgbClr val="12284C"/>
                </a:solidFill>
                <a:latin typeface="Calibri" pitchFamily="34" charset="0"/>
                <a:ea typeface="Calibri" pitchFamily="34" charset="-122"/>
                <a:cs typeface="Calibri" pitchFamily="34" charset="-120"/>
              </a:rPr>
              <a:t>Inference</a:t>
            </a:r>
            <a:endParaRPr lang="en-US" sz="1600" dirty="0"/>
          </a:p>
        </p:txBody>
      </p:sp>
      <p:sp>
        <p:nvSpPr>
          <p:cNvPr id="23" name="Text 21"/>
          <p:cNvSpPr txBox="1"/>
          <p:nvPr/>
        </p:nvSpPr>
        <p:spPr>
          <a:xfrm>
            <a:off x="1188720" y="4462272"/>
            <a:ext cx="7223760" cy="2743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Custom symptom prediction and model saving</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9AA7"/>
          </a:solidFill>
          <a:ln/>
        </p:spPr>
      </p:sp>
      <p:sp>
        <p:nvSpPr>
          <p:cNvPr id="3" name="Text 1"/>
          <p:cNvSpPr txBox="1"/>
          <p:nvPr/>
        </p:nvSpPr>
        <p:spPr>
          <a:xfrm>
            <a:off x="502920" y="274320"/>
            <a:ext cx="8138160" cy="548640"/>
          </a:xfrm>
          <a:prstGeom prst="rect">
            <a:avLst/>
          </a:prstGeom>
          <a:noFill/>
          <a:ln/>
        </p:spPr>
        <p:txBody>
          <a:bodyPr wrap="square" lIns="0" tIns="0" rIns="0" bIns="0" rtlCol="0" anchor="ctr"/>
          <a:lstStyle/>
          <a:p>
            <a:pPr indent="0" marL="0">
              <a:buNone/>
            </a:pPr>
            <a:r>
              <a:rPr lang="en-US" sz="2600" b="1" dirty="0">
                <a:solidFill>
                  <a:srgbClr val="12284C"/>
                </a:solidFill>
                <a:latin typeface="Calibri" pitchFamily="34" charset="0"/>
                <a:ea typeface="Calibri" pitchFamily="34" charset="-122"/>
                <a:cs typeface="Calibri" pitchFamily="34" charset="-120"/>
              </a:rPr>
              <a:t>Dataset: Symptom2Disease</a:t>
            </a:r>
            <a:endParaRPr lang="en-US" sz="2600" dirty="0"/>
          </a:p>
        </p:txBody>
      </p:sp>
      <p:sp>
        <p:nvSpPr>
          <p:cNvPr id="4" name="Text 2"/>
          <p:cNvSpPr txBox="1"/>
          <p:nvPr/>
        </p:nvSpPr>
        <p:spPr>
          <a:xfrm>
            <a:off x="502920" y="804672"/>
            <a:ext cx="813816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Free-text symptom description mapped to a disease label</a:t>
            </a:r>
            <a:endParaRPr lang="en-US" sz="1300" dirty="0"/>
          </a:p>
        </p:txBody>
      </p:sp>
      <p:sp>
        <p:nvSpPr>
          <p:cNvPr id="5" name="Shape 3"/>
          <p:cNvSpPr/>
          <p:nvPr/>
        </p:nvSpPr>
        <p:spPr>
          <a:xfrm>
            <a:off x="502920" y="1280160"/>
            <a:ext cx="1874520" cy="1234440"/>
          </a:xfrm>
          <a:prstGeom prst="roundRect">
            <a:avLst>
              <a:gd name="adj" fmla="val 7407"/>
            </a:avLst>
          </a:prstGeom>
          <a:solidFill>
            <a:srgbClr val="F3F6FA"/>
          </a:solidFill>
          <a:ln w="12700">
            <a:solidFill>
              <a:srgbClr val="F3F6FA"/>
            </a:solidFill>
            <a:prstDash val="solid"/>
          </a:ln>
        </p:spPr>
      </p:sp>
      <p:sp>
        <p:nvSpPr>
          <p:cNvPr id="6" name="Text 4"/>
          <p:cNvSpPr txBox="1"/>
          <p:nvPr/>
        </p:nvSpPr>
        <p:spPr>
          <a:xfrm>
            <a:off x="502920" y="1389888"/>
            <a:ext cx="1874520" cy="617220"/>
          </a:xfrm>
          <a:prstGeom prst="rect">
            <a:avLst/>
          </a:prstGeom>
          <a:noFill/>
          <a:ln/>
        </p:spPr>
        <p:txBody>
          <a:bodyPr wrap="square" lIns="0" tIns="0" rIns="0" bIns="0" rtlCol="0" anchor="ctr"/>
          <a:lstStyle/>
          <a:p>
            <a:pPr algn="ctr" indent="0" marL="0">
              <a:buNone/>
            </a:pPr>
            <a:r>
              <a:rPr lang="en-US" sz="2800" b="1" dirty="0">
                <a:solidFill>
                  <a:srgbClr val="0E9AA7"/>
                </a:solidFill>
                <a:latin typeface="Calibri" pitchFamily="34" charset="0"/>
                <a:ea typeface="Calibri" pitchFamily="34" charset="-122"/>
                <a:cs typeface="Calibri" pitchFamily="34" charset="-120"/>
              </a:rPr>
              <a:t>1,200</a:t>
            </a:r>
            <a:endParaRPr lang="en-US" sz="2800" dirty="0"/>
          </a:p>
        </p:txBody>
      </p:sp>
      <p:sp>
        <p:nvSpPr>
          <p:cNvPr id="7" name="Text 5"/>
          <p:cNvSpPr txBox="1"/>
          <p:nvPr/>
        </p:nvSpPr>
        <p:spPr>
          <a:xfrm>
            <a:off x="594360" y="1996135"/>
            <a:ext cx="1691640" cy="469087"/>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initial entries</a:t>
            </a:r>
            <a:endParaRPr lang="en-US" sz="1200" dirty="0"/>
          </a:p>
        </p:txBody>
      </p:sp>
      <p:sp>
        <p:nvSpPr>
          <p:cNvPr id="8" name="Shape 6"/>
          <p:cNvSpPr/>
          <p:nvPr/>
        </p:nvSpPr>
        <p:spPr>
          <a:xfrm>
            <a:off x="2514600" y="1280160"/>
            <a:ext cx="1874520" cy="1234440"/>
          </a:xfrm>
          <a:prstGeom prst="roundRect">
            <a:avLst>
              <a:gd name="adj" fmla="val 7407"/>
            </a:avLst>
          </a:prstGeom>
          <a:solidFill>
            <a:srgbClr val="F3F6FA"/>
          </a:solidFill>
          <a:ln w="12700">
            <a:solidFill>
              <a:srgbClr val="F3F6FA"/>
            </a:solidFill>
            <a:prstDash val="solid"/>
          </a:ln>
        </p:spPr>
      </p:sp>
      <p:sp>
        <p:nvSpPr>
          <p:cNvPr id="9" name="Text 7"/>
          <p:cNvSpPr txBox="1"/>
          <p:nvPr/>
        </p:nvSpPr>
        <p:spPr>
          <a:xfrm>
            <a:off x="2514600" y="1389888"/>
            <a:ext cx="1874520" cy="617220"/>
          </a:xfrm>
          <a:prstGeom prst="rect">
            <a:avLst/>
          </a:prstGeom>
          <a:noFill/>
          <a:ln/>
        </p:spPr>
        <p:txBody>
          <a:bodyPr wrap="square" lIns="0" tIns="0" rIns="0" bIns="0" rtlCol="0" anchor="ctr"/>
          <a:lstStyle/>
          <a:p>
            <a:pPr algn="ctr" indent="0" marL="0">
              <a:buNone/>
            </a:pPr>
            <a:r>
              <a:rPr lang="en-US" sz="2800" b="1" dirty="0">
                <a:solidFill>
                  <a:srgbClr val="0E9AA7"/>
                </a:solidFill>
                <a:latin typeface="Calibri" pitchFamily="34" charset="0"/>
                <a:ea typeface="Calibri" pitchFamily="34" charset="-122"/>
                <a:cs typeface="Calibri" pitchFamily="34" charset="-120"/>
              </a:rPr>
              <a:t>1,153</a:t>
            </a:r>
            <a:endParaRPr lang="en-US" sz="2800" dirty="0"/>
          </a:p>
        </p:txBody>
      </p:sp>
      <p:sp>
        <p:nvSpPr>
          <p:cNvPr id="10" name="Text 8"/>
          <p:cNvSpPr txBox="1"/>
          <p:nvPr/>
        </p:nvSpPr>
        <p:spPr>
          <a:xfrm>
            <a:off x="2606040" y="1996135"/>
            <a:ext cx="1691640" cy="469087"/>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after removing 47 duplicates</a:t>
            </a:r>
            <a:endParaRPr lang="en-US" sz="1200" dirty="0"/>
          </a:p>
        </p:txBody>
      </p:sp>
      <p:sp>
        <p:nvSpPr>
          <p:cNvPr id="11" name="Shape 9"/>
          <p:cNvSpPr/>
          <p:nvPr/>
        </p:nvSpPr>
        <p:spPr>
          <a:xfrm>
            <a:off x="4526280" y="1280160"/>
            <a:ext cx="1874520" cy="1234440"/>
          </a:xfrm>
          <a:prstGeom prst="roundRect">
            <a:avLst>
              <a:gd name="adj" fmla="val 7407"/>
            </a:avLst>
          </a:prstGeom>
          <a:solidFill>
            <a:srgbClr val="F3F6FA"/>
          </a:solidFill>
          <a:ln w="12700">
            <a:solidFill>
              <a:srgbClr val="F3F6FA"/>
            </a:solidFill>
            <a:prstDash val="solid"/>
          </a:ln>
        </p:spPr>
      </p:sp>
      <p:sp>
        <p:nvSpPr>
          <p:cNvPr id="12" name="Text 10"/>
          <p:cNvSpPr txBox="1"/>
          <p:nvPr/>
        </p:nvSpPr>
        <p:spPr>
          <a:xfrm>
            <a:off x="4526280" y="1389888"/>
            <a:ext cx="1874520" cy="617220"/>
          </a:xfrm>
          <a:prstGeom prst="rect">
            <a:avLst/>
          </a:prstGeom>
          <a:noFill/>
          <a:ln/>
        </p:spPr>
        <p:txBody>
          <a:bodyPr wrap="square" lIns="0" tIns="0" rIns="0" bIns="0" rtlCol="0" anchor="ctr"/>
          <a:lstStyle/>
          <a:p>
            <a:pPr algn="ctr" indent="0" marL="0">
              <a:buNone/>
            </a:pPr>
            <a:r>
              <a:rPr lang="en-US" sz="2800" b="1" dirty="0">
                <a:solidFill>
                  <a:srgbClr val="F28C28"/>
                </a:solidFill>
                <a:latin typeface="Calibri" pitchFamily="34" charset="0"/>
                <a:ea typeface="Calibri" pitchFamily="34" charset="-122"/>
                <a:cs typeface="Calibri" pitchFamily="34" charset="-120"/>
              </a:rPr>
              <a:t>24</a:t>
            </a:r>
            <a:endParaRPr lang="en-US" sz="2800" dirty="0"/>
          </a:p>
        </p:txBody>
      </p:sp>
      <p:sp>
        <p:nvSpPr>
          <p:cNvPr id="13" name="Text 11"/>
          <p:cNvSpPr txBox="1"/>
          <p:nvPr/>
        </p:nvSpPr>
        <p:spPr>
          <a:xfrm>
            <a:off x="4617720" y="1996135"/>
            <a:ext cx="1691640" cy="469087"/>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disease classes</a:t>
            </a:r>
            <a:endParaRPr lang="en-US" sz="1200" dirty="0"/>
          </a:p>
        </p:txBody>
      </p:sp>
      <p:sp>
        <p:nvSpPr>
          <p:cNvPr id="14" name="Shape 12"/>
          <p:cNvSpPr/>
          <p:nvPr/>
        </p:nvSpPr>
        <p:spPr>
          <a:xfrm>
            <a:off x="6537960" y="1280160"/>
            <a:ext cx="2103120" cy="1234440"/>
          </a:xfrm>
          <a:prstGeom prst="roundRect">
            <a:avLst>
              <a:gd name="adj" fmla="val 7407"/>
            </a:avLst>
          </a:prstGeom>
          <a:solidFill>
            <a:srgbClr val="F3F6FA"/>
          </a:solidFill>
          <a:ln w="12700">
            <a:solidFill>
              <a:srgbClr val="F3F6FA"/>
            </a:solidFill>
            <a:prstDash val="solid"/>
          </a:ln>
        </p:spPr>
      </p:sp>
      <p:sp>
        <p:nvSpPr>
          <p:cNvPr id="15" name="Text 13"/>
          <p:cNvSpPr txBox="1"/>
          <p:nvPr/>
        </p:nvSpPr>
        <p:spPr>
          <a:xfrm>
            <a:off x="6537960" y="1389888"/>
            <a:ext cx="2103120" cy="617220"/>
          </a:xfrm>
          <a:prstGeom prst="rect">
            <a:avLst/>
          </a:prstGeom>
          <a:noFill/>
          <a:ln/>
        </p:spPr>
        <p:txBody>
          <a:bodyPr wrap="square" lIns="0" tIns="0" rIns="0" bIns="0" rtlCol="0" anchor="ctr"/>
          <a:lstStyle/>
          <a:p>
            <a:pPr algn="ctr" indent="0" marL="0">
              <a:buNone/>
            </a:pPr>
            <a:r>
              <a:rPr lang="en-US" sz="2800" b="1" dirty="0">
                <a:solidFill>
                  <a:srgbClr val="F28C28"/>
                </a:solidFill>
                <a:latin typeface="Calibri" pitchFamily="34" charset="0"/>
                <a:ea typeface="Calibri" pitchFamily="34" charset="-122"/>
                <a:cs typeface="Calibri" pitchFamily="34" charset="-120"/>
              </a:rPr>
              <a:t>~30</a:t>
            </a:r>
            <a:endParaRPr lang="en-US" sz="2800" dirty="0"/>
          </a:p>
        </p:txBody>
      </p:sp>
      <p:sp>
        <p:nvSpPr>
          <p:cNvPr id="16" name="Text 14"/>
          <p:cNvSpPr txBox="1"/>
          <p:nvPr/>
        </p:nvSpPr>
        <p:spPr>
          <a:xfrm>
            <a:off x="6629400" y="1996135"/>
            <a:ext cx="1920240" cy="469087"/>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avg. words per description (12–55)</a:t>
            </a:r>
            <a:endParaRPr lang="en-US" sz="1200" dirty="0"/>
          </a:p>
        </p:txBody>
      </p:sp>
      <p:sp>
        <p:nvSpPr>
          <p:cNvPr id="17" name="Text 15"/>
          <p:cNvSpPr txBox="1"/>
          <p:nvPr/>
        </p:nvSpPr>
        <p:spPr>
          <a:xfrm>
            <a:off x="502920" y="2834640"/>
            <a:ext cx="8138160" cy="1737360"/>
          </a:xfrm>
          <a:prstGeom prst="rect">
            <a:avLst/>
          </a:prstGeom>
          <a:noFill/>
          <a:ln/>
        </p:spPr>
        <p:txBody>
          <a:bodyPr wrap="square" rtlCol="0" anchor="t"/>
          <a:lstStyle/>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Features: text (symptom description) and label (disease)</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Classes include Psoriasis, Arthritis, Common Cold, Diabetes, Migraine, Bronchial Asthma, Dengue, Malaria and more</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Well balanced: about 38–50 samples per class; no missing values</a:t>
            </a:r>
            <a:endParaRPr lang="en-US" sz="1500" dirty="0"/>
          </a:p>
        </p:txBody>
      </p:sp>
      <p:sp>
        <p:nvSpPr>
          <p:cNvPr id="18" name="Shape 16"/>
          <p:cNvSpPr/>
          <p:nvPr/>
        </p:nvSpPr>
        <p:spPr>
          <a:xfrm>
            <a:off x="502920" y="4526280"/>
            <a:ext cx="8138160" cy="411480"/>
          </a:xfrm>
          <a:prstGeom prst="roundRect">
            <a:avLst>
              <a:gd name="adj" fmla="val 17778"/>
            </a:avLst>
          </a:prstGeom>
          <a:solidFill>
            <a:srgbClr val="12284C"/>
          </a:solidFill>
          <a:ln w="12700">
            <a:solidFill>
              <a:srgbClr val="12284C"/>
            </a:solidFill>
            <a:prstDash val="solid"/>
          </a:ln>
        </p:spPr>
      </p:sp>
      <p:sp>
        <p:nvSpPr>
          <p:cNvPr id="19" name="Text 17"/>
          <p:cNvSpPr txBox="1"/>
          <p:nvPr/>
        </p:nvSpPr>
        <p:spPr>
          <a:xfrm>
            <a:off x="685800" y="4526280"/>
            <a:ext cx="7772400" cy="411480"/>
          </a:xfrm>
          <a:prstGeom prst="rect">
            <a:avLst/>
          </a:prstGeom>
          <a:noFill/>
          <a:ln/>
        </p:spPr>
        <p:txBody>
          <a:bodyPr wrap="square" lIns="0" tIns="0" rIns="0" bIns="0" rtlCol="0" anchor="ctr"/>
          <a:lstStyle/>
          <a:p>
            <a:pPr indent="0" marL="0">
              <a:buNone/>
            </a:pPr>
            <a:r>
              <a:rPr lang="en-US" sz="1200" b="1" dirty="0">
                <a:solidFill>
                  <a:srgbClr val="F28C28"/>
                </a:solidFill>
                <a:latin typeface="Calibri" pitchFamily="34" charset="0"/>
                <a:ea typeface="Calibri" pitchFamily="34" charset="-122"/>
                <a:cs typeface="Calibri" pitchFamily="34" charset="-120"/>
              </a:rPr>
              <a:t>INSIGHT  </a:t>
            </a:r>
            <a:pPr indent="0" marL="0">
              <a:buNone/>
            </a:pPr>
            <a:r>
              <a:rPr lang="en-US" sz="1200" dirty="0">
                <a:solidFill>
                  <a:srgbClr val="FFFFFF"/>
                </a:solidFill>
                <a:latin typeface="Calibri" pitchFamily="34" charset="0"/>
                <a:ea typeface="Calibri" pitchFamily="34" charset="-122"/>
                <a:cs typeface="Calibri" pitchFamily="34" charset="-120"/>
              </a:rPr>
              <a:t>Near-balanced classes mean accuracy and macro-F1 are directly comparable; no resampling needed.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9AA7"/>
          </a:solidFill>
          <a:ln/>
        </p:spPr>
      </p:sp>
      <p:sp>
        <p:nvSpPr>
          <p:cNvPr id="3" name="Text 1"/>
          <p:cNvSpPr txBox="1"/>
          <p:nvPr/>
        </p:nvSpPr>
        <p:spPr>
          <a:xfrm>
            <a:off x="502920" y="274320"/>
            <a:ext cx="8138160" cy="548640"/>
          </a:xfrm>
          <a:prstGeom prst="rect">
            <a:avLst/>
          </a:prstGeom>
          <a:noFill/>
          <a:ln/>
        </p:spPr>
        <p:txBody>
          <a:bodyPr wrap="square" lIns="0" tIns="0" rIns="0" bIns="0" rtlCol="0" anchor="ctr"/>
          <a:lstStyle/>
          <a:p>
            <a:pPr indent="0" marL="0">
              <a:buNone/>
            </a:pPr>
            <a:r>
              <a:rPr lang="en-US" sz="2600" b="1" dirty="0">
                <a:solidFill>
                  <a:srgbClr val="12284C"/>
                </a:solidFill>
                <a:latin typeface="Calibri" pitchFamily="34" charset="0"/>
                <a:ea typeface="Calibri" pitchFamily="34" charset="-122"/>
                <a:cs typeface="Calibri" pitchFamily="34" charset="-120"/>
              </a:rPr>
              <a:t>Text Preprocessing Pipeline</a:t>
            </a:r>
            <a:endParaRPr lang="en-US" sz="2600" dirty="0"/>
          </a:p>
        </p:txBody>
      </p:sp>
      <p:sp>
        <p:nvSpPr>
          <p:cNvPr id="4" name="Text 2"/>
          <p:cNvSpPr txBox="1"/>
          <p:nvPr/>
        </p:nvSpPr>
        <p:spPr>
          <a:xfrm>
            <a:off x="502920" y="804672"/>
            <a:ext cx="813816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Applied to every symptom description</a:t>
            </a:r>
            <a:endParaRPr lang="en-US" sz="1300" dirty="0"/>
          </a:p>
        </p:txBody>
      </p:sp>
      <p:sp>
        <p:nvSpPr>
          <p:cNvPr id="5" name="Shape 3"/>
          <p:cNvSpPr/>
          <p:nvPr/>
        </p:nvSpPr>
        <p:spPr>
          <a:xfrm>
            <a:off x="502920" y="1371600"/>
            <a:ext cx="1874520" cy="1005840"/>
          </a:xfrm>
          <a:prstGeom prst="roundRect">
            <a:avLst>
              <a:gd name="adj" fmla="val 9091"/>
            </a:avLst>
          </a:prstGeom>
          <a:solidFill>
            <a:srgbClr val="12284C"/>
          </a:solidFill>
          <a:ln w="12700">
            <a:solidFill>
              <a:srgbClr val="FFFFFF"/>
            </a:solidFill>
            <a:prstDash val="solid"/>
          </a:ln>
        </p:spPr>
      </p:sp>
      <p:sp>
        <p:nvSpPr>
          <p:cNvPr id="6" name="Text 4"/>
          <p:cNvSpPr txBox="1"/>
          <p:nvPr/>
        </p:nvSpPr>
        <p:spPr>
          <a:xfrm>
            <a:off x="594360" y="1371600"/>
            <a:ext cx="1691640" cy="10058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Remove HTML</a:t>
            </a:r>
            <a:endParaRPr lang="en-US" sz="1400" dirty="0"/>
          </a:p>
        </p:txBody>
      </p:sp>
      <p:sp>
        <p:nvSpPr>
          <p:cNvPr id="7" name="Shape 5"/>
          <p:cNvSpPr/>
          <p:nvPr/>
        </p:nvSpPr>
        <p:spPr>
          <a:xfrm>
            <a:off x="2560320" y="1371600"/>
            <a:ext cx="1874520" cy="1005840"/>
          </a:xfrm>
          <a:prstGeom prst="roundRect">
            <a:avLst>
              <a:gd name="adj" fmla="val 9091"/>
            </a:avLst>
          </a:prstGeom>
          <a:solidFill>
            <a:srgbClr val="0E9AA7"/>
          </a:solidFill>
          <a:ln w="12700">
            <a:solidFill>
              <a:srgbClr val="FFFFFF"/>
            </a:solidFill>
            <a:prstDash val="solid"/>
          </a:ln>
        </p:spPr>
      </p:sp>
      <p:sp>
        <p:nvSpPr>
          <p:cNvPr id="8" name="Text 6"/>
          <p:cNvSpPr txBox="1"/>
          <p:nvPr/>
        </p:nvSpPr>
        <p:spPr>
          <a:xfrm>
            <a:off x="2651760" y="1371600"/>
            <a:ext cx="1691640" cy="10058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Remove emails &amp; links</a:t>
            </a:r>
            <a:endParaRPr lang="en-US" sz="1400" dirty="0"/>
          </a:p>
        </p:txBody>
      </p:sp>
      <p:sp>
        <p:nvSpPr>
          <p:cNvPr id="9" name="Shape 7"/>
          <p:cNvSpPr/>
          <p:nvPr/>
        </p:nvSpPr>
        <p:spPr>
          <a:xfrm>
            <a:off x="4617720" y="1371600"/>
            <a:ext cx="1874520" cy="1005840"/>
          </a:xfrm>
          <a:prstGeom prst="roundRect">
            <a:avLst>
              <a:gd name="adj" fmla="val 9091"/>
            </a:avLst>
          </a:prstGeom>
          <a:solidFill>
            <a:srgbClr val="12284C"/>
          </a:solidFill>
          <a:ln w="12700">
            <a:solidFill>
              <a:srgbClr val="FFFFFF"/>
            </a:solidFill>
            <a:prstDash val="solid"/>
          </a:ln>
        </p:spPr>
      </p:sp>
      <p:sp>
        <p:nvSpPr>
          <p:cNvPr id="10" name="Text 8"/>
          <p:cNvSpPr txBox="1"/>
          <p:nvPr/>
        </p:nvSpPr>
        <p:spPr>
          <a:xfrm>
            <a:off x="4709160" y="1371600"/>
            <a:ext cx="1691640" cy="10058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Remove digits &amp; underscores</a:t>
            </a:r>
            <a:endParaRPr lang="en-US" sz="1400" dirty="0"/>
          </a:p>
        </p:txBody>
      </p:sp>
      <p:sp>
        <p:nvSpPr>
          <p:cNvPr id="11" name="Shape 9"/>
          <p:cNvSpPr/>
          <p:nvPr/>
        </p:nvSpPr>
        <p:spPr>
          <a:xfrm>
            <a:off x="6675120" y="1371600"/>
            <a:ext cx="1874520" cy="1005840"/>
          </a:xfrm>
          <a:prstGeom prst="roundRect">
            <a:avLst>
              <a:gd name="adj" fmla="val 9091"/>
            </a:avLst>
          </a:prstGeom>
          <a:solidFill>
            <a:srgbClr val="0E9AA7"/>
          </a:solidFill>
          <a:ln w="12700">
            <a:solidFill>
              <a:srgbClr val="FFFFFF"/>
            </a:solidFill>
            <a:prstDash val="solid"/>
          </a:ln>
        </p:spPr>
      </p:sp>
      <p:sp>
        <p:nvSpPr>
          <p:cNvPr id="12" name="Text 10"/>
          <p:cNvSpPr txBox="1"/>
          <p:nvPr/>
        </p:nvSpPr>
        <p:spPr>
          <a:xfrm>
            <a:off x="6766560" y="1371600"/>
            <a:ext cx="1691640" cy="10058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Remove special chars</a:t>
            </a:r>
            <a:endParaRPr lang="en-US" sz="1400" dirty="0"/>
          </a:p>
        </p:txBody>
      </p:sp>
      <p:sp>
        <p:nvSpPr>
          <p:cNvPr id="13" name="Shape 11"/>
          <p:cNvSpPr/>
          <p:nvPr/>
        </p:nvSpPr>
        <p:spPr>
          <a:xfrm>
            <a:off x="502920" y="2697480"/>
            <a:ext cx="1874520" cy="1005840"/>
          </a:xfrm>
          <a:prstGeom prst="roundRect">
            <a:avLst>
              <a:gd name="adj" fmla="val 9091"/>
            </a:avLst>
          </a:prstGeom>
          <a:solidFill>
            <a:srgbClr val="12284C"/>
          </a:solidFill>
          <a:ln w="12700">
            <a:solidFill>
              <a:srgbClr val="FFFFFF"/>
            </a:solidFill>
            <a:prstDash val="solid"/>
          </a:ln>
        </p:spPr>
      </p:sp>
      <p:sp>
        <p:nvSpPr>
          <p:cNvPr id="14" name="Text 12"/>
          <p:cNvSpPr txBox="1"/>
          <p:nvPr/>
        </p:nvSpPr>
        <p:spPr>
          <a:xfrm>
            <a:off x="594360" y="2697480"/>
            <a:ext cx="1691640" cy="10058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Remove stop words</a:t>
            </a:r>
            <a:endParaRPr lang="en-US" sz="1400" dirty="0"/>
          </a:p>
        </p:txBody>
      </p:sp>
      <p:sp>
        <p:nvSpPr>
          <p:cNvPr id="15" name="Shape 13"/>
          <p:cNvSpPr/>
          <p:nvPr/>
        </p:nvSpPr>
        <p:spPr>
          <a:xfrm>
            <a:off x="2560320" y="2697480"/>
            <a:ext cx="1874520" cy="1005840"/>
          </a:xfrm>
          <a:prstGeom prst="roundRect">
            <a:avLst>
              <a:gd name="adj" fmla="val 9091"/>
            </a:avLst>
          </a:prstGeom>
          <a:solidFill>
            <a:srgbClr val="0E9AA7"/>
          </a:solidFill>
          <a:ln w="12700">
            <a:solidFill>
              <a:srgbClr val="FFFFFF"/>
            </a:solidFill>
            <a:prstDash val="solid"/>
          </a:ln>
        </p:spPr>
      </p:sp>
      <p:sp>
        <p:nvSpPr>
          <p:cNvPr id="16" name="Text 14"/>
          <p:cNvSpPr txBox="1"/>
          <p:nvPr/>
        </p:nvSpPr>
        <p:spPr>
          <a:xfrm>
            <a:off x="2651760" y="2697480"/>
            <a:ext cx="1691640" cy="10058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Strip non-ASCII &amp; punctuation</a:t>
            </a:r>
            <a:endParaRPr lang="en-US" sz="1400" dirty="0"/>
          </a:p>
        </p:txBody>
      </p:sp>
      <p:sp>
        <p:nvSpPr>
          <p:cNvPr id="17" name="Shape 15"/>
          <p:cNvSpPr/>
          <p:nvPr/>
        </p:nvSpPr>
        <p:spPr>
          <a:xfrm>
            <a:off x="4617720" y="2697480"/>
            <a:ext cx="1874520" cy="1005840"/>
          </a:xfrm>
          <a:prstGeom prst="roundRect">
            <a:avLst>
              <a:gd name="adj" fmla="val 9091"/>
            </a:avLst>
          </a:prstGeom>
          <a:solidFill>
            <a:srgbClr val="12284C"/>
          </a:solidFill>
          <a:ln w="12700">
            <a:solidFill>
              <a:srgbClr val="FFFFFF"/>
            </a:solidFill>
            <a:prstDash val="solid"/>
          </a:ln>
        </p:spPr>
      </p:sp>
      <p:sp>
        <p:nvSpPr>
          <p:cNvPr id="18" name="Text 16"/>
          <p:cNvSpPr txBox="1"/>
          <p:nvPr/>
        </p:nvSpPr>
        <p:spPr>
          <a:xfrm>
            <a:off x="4709160" y="2697480"/>
            <a:ext cx="1691640" cy="10058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Lowercase</a:t>
            </a:r>
            <a:endParaRPr lang="en-US" sz="1400" dirty="0"/>
          </a:p>
        </p:txBody>
      </p:sp>
      <p:sp>
        <p:nvSpPr>
          <p:cNvPr id="19" name="Text 17"/>
          <p:cNvSpPr txBox="1"/>
          <p:nvPr/>
        </p:nvSpPr>
        <p:spPr>
          <a:xfrm>
            <a:off x="502920" y="3566160"/>
            <a:ext cx="8138160" cy="731520"/>
          </a:xfrm>
          <a:prstGeom prst="rect">
            <a:avLst/>
          </a:prstGeom>
          <a:noFill/>
          <a:ln/>
        </p:spPr>
        <p:txBody>
          <a:bodyPr wrap="square" lIns="0" tIns="0" rIns="0" bIns="0" rtlCol="0" anchor="ctr"/>
          <a:lstStyle/>
          <a:p>
            <a:pPr indent="0" marL="0">
              <a:buNone/>
            </a:pPr>
            <a:r>
              <a:rPr lang="en-US" sz="1100" dirty="0">
                <a:solidFill>
                  <a:srgbClr val="1F2937"/>
                </a:solidFill>
                <a:latin typeface="Consolas" pitchFamily="34" charset="0"/>
                <a:ea typeface="Consolas" pitchFamily="34" charset="-122"/>
                <a:cs typeface="Consolas" pitchFamily="34" charset="-120"/>
              </a:rPr>
              <a:t>Before: "I have been experiencing a skin rash on my arms…"</a:t>
            </a:r>
            <a:endParaRPr lang="en-US" sz="1100" dirty="0"/>
          </a:p>
          <a:p>
            <a:pPr indent="0" marL="0">
              <a:buNone/>
            </a:pPr>
            <a:r>
              <a:rPr lang="en-US" sz="1100" dirty="0">
                <a:solidFill>
                  <a:srgbClr val="1F2937"/>
                </a:solidFill>
                <a:latin typeface="Consolas" pitchFamily="34" charset="0"/>
                <a:ea typeface="Consolas" pitchFamily="34" charset="-122"/>
                <a:cs typeface="Consolas" pitchFamily="34" charset="-120"/>
              </a:rPr>
              <a:t>After: "experiencing skin rash arms legs torso past weeks…"</a:t>
            </a:r>
            <a:endParaRPr lang="en-US" sz="1100" dirty="0"/>
          </a:p>
        </p:txBody>
      </p:sp>
      <p:sp>
        <p:nvSpPr>
          <p:cNvPr id="20" name="Shape 18"/>
          <p:cNvSpPr/>
          <p:nvPr/>
        </p:nvSpPr>
        <p:spPr>
          <a:xfrm>
            <a:off x="502920" y="4526280"/>
            <a:ext cx="8138160" cy="411480"/>
          </a:xfrm>
          <a:prstGeom prst="roundRect">
            <a:avLst>
              <a:gd name="adj" fmla="val 17778"/>
            </a:avLst>
          </a:prstGeom>
          <a:solidFill>
            <a:srgbClr val="12284C"/>
          </a:solidFill>
          <a:ln w="12700">
            <a:solidFill>
              <a:srgbClr val="12284C"/>
            </a:solidFill>
            <a:prstDash val="solid"/>
          </a:ln>
        </p:spPr>
      </p:sp>
      <p:sp>
        <p:nvSpPr>
          <p:cNvPr id="21" name="Text 19"/>
          <p:cNvSpPr txBox="1"/>
          <p:nvPr/>
        </p:nvSpPr>
        <p:spPr>
          <a:xfrm>
            <a:off x="685800" y="4526280"/>
            <a:ext cx="7772400" cy="411480"/>
          </a:xfrm>
          <a:prstGeom prst="rect">
            <a:avLst/>
          </a:prstGeom>
          <a:noFill/>
          <a:ln/>
        </p:spPr>
        <p:txBody>
          <a:bodyPr wrap="square" lIns="0" tIns="0" rIns="0" bIns="0" rtlCol="0" anchor="ctr"/>
          <a:lstStyle/>
          <a:p>
            <a:pPr indent="0" marL="0">
              <a:buNone/>
            </a:pPr>
            <a:r>
              <a:rPr lang="en-US" sz="1200" b="1" dirty="0">
                <a:solidFill>
                  <a:srgbClr val="F28C28"/>
                </a:solidFill>
                <a:latin typeface="Calibri" pitchFamily="34" charset="0"/>
                <a:ea typeface="Calibri" pitchFamily="34" charset="-122"/>
                <a:cs typeface="Calibri" pitchFamily="34" charset="-120"/>
              </a:rPr>
              <a:t>INSIGHT  </a:t>
            </a:r>
            <a:pPr indent="0" marL="0">
              <a:buNone/>
            </a:pPr>
            <a:r>
              <a:rPr lang="en-US" sz="1200" dirty="0">
                <a:solidFill>
                  <a:srgbClr val="FFFFFF"/>
                </a:solidFill>
                <a:latin typeface="Calibri" pitchFamily="34" charset="0"/>
                <a:ea typeface="Calibri" pitchFamily="34" charset="-122"/>
                <a:cs typeface="Calibri" pitchFamily="34" charset="-120"/>
              </a:rPr>
              <a:t>Stop-word removal keeps only content words: the first sample drops from 28 words to 13.</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9AA7"/>
          </a:solidFill>
          <a:ln/>
        </p:spPr>
      </p:sp>
      <p:sp>
        <p:nvSpPr>
          <p:cNvPr id="3" name="Text 1"/>
          <p:cNvSpPr txBox="1"/>
          <p:nvPr/>
        </p:nvSpPr>
        <p:spPr>
          <a:xfrm>
            <a:off x="502920" y="274320"/>
            <a:ext cx="8138160" cy="548640"/>
          </a:xfrm>
          <a:prstGeom prst="rect">
            <a:avLst/>
          </a:prstGeom>
          <a:noFill/>
          <a:ln/>
        </p:spPr>
        <p:txBody>
          <a:bodyPr wrap="square" lIns="0" tIns="0" rIns="0" bIns="0" rtlCol="0" anchor="ctr"/>
          <a:lstStyle/>
          <a:p>
            <a:pPr indent="0" marL="0">
              <a:buNone/>
            </a:pPr>
            <a:r>
              <a:rPr lang="en-US" sz="2600" b="1" dirty="0">
                <a:solidFill>
                  <a:srgbClr val="12284C"/>
                </a:solidFill>
                <a:latin typeface="Calibri" pitchFamily="34" charset="0"/>
                <a:ea typeface="Calibri" pitchFamily="34" charset="-122"/>
                <a:cs typeface="Calibri" pitchFamily="34" charset="-120"/>
              </a:rPr>
              <a:t>Exploratory Data Analysis</a:t>
            </a:r>
            <a:endParaRPr lang="en-US" sz="2600" dirty="0"/>
          </a:p>
        </p:txBody>
      </p:sp>
      <p:sp>
        <p:nvSpPr>
          <p:cNvPr id="4" name="Text 2"/>
          <p:cNvSpPr txBox="1"/>
          <p:nvPr/>
        </p:nvSpPr>
        <p:spPr>
          <a:xfrm>
            <a:off x="502920" y="1097280"/>
            <a:ext cx="4846320" cy="3291840"/>
          </a:xfrm>
          <a:prstGeom prst="rect">
            <a:avLst/>
          </a:prstGeom>
          <a:noFill/>
          <a:ln/>
        </p:spPr>
        <p:txBody>
          <a:bodyPr wrap="square" rtlCol="0" anchor="t"/>
          <a:lstStyle/>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WordCloud: dominant terms are skin, feel, headache, pain, fever, throat, rash, cough and joint</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Description length is roughly normal, peaking at 26–36 words</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Class counts range from 38 (Jaundice) to 50 per disease, so no resampling was needed</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Stratified split keeps class proportions identical across sets</a:t>
            </a:r>
            <a:endParaRPr lang="en-US" sz="1500" dirty="0"/>
          </a:p>
        </p:txBody>
      </p:sp>
      <p:graphicFrame>
        <p:nvGraphicFramePr>
          <p:cNvPr id="5" name="Chart 0" descr=""/>
          <p:cNvGraphicFramePr/>
          <p:nvPr/>
        </p:nvGraphicFramePr>
        <p:xfrm>
          <a:off x="5486400" y="1188720"/>
          <a:ext cx="3200400" cy="31089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9AA7"/>
          </a:solidFill>
          <a:ln/>
        </p:spPr>
      </p:sp>
      <p:sp>
        <p:nvSpPr>
          <p:cNvPr id="3" name="Text 1"/>
          <p:cNvSpPr txBox="1"/>
          <p:nvPr/>
        </p:nvSpPr>
        <p:spPr>
          <a:xfrm>
            <a:off x="502920" y="274320"/>
            <a:ext cx="8138160" cy="548640"/>
          </a:xfrm>
          <a:prstGeom prst="rect">
            <a:avLst/>
          </a:prstGeom>
          <a:noFill/>
          <a:ln/>
        </p:spPr>
        <p:txBody>
          <a:bodyPr wrap="square" lIns="0" tIns="0" rIns="0" bIns="0" rtlCol="0" anchor="ctr"/>
          <a:lstStyle/>
          <a:p>
            <a:pPr indent="0" marL="0">
              <a:buNone/>
            </a:pPr>
            <a:r>
              <a:rPr lang="en-US" sz="2600" b="1" dirty="0">
                <a:solidFill>
                  <a:srgbClr val="12284C"/>
                </a:solidFill>
                <a:latin typeface="Calibri" pitchFamily="34" charset="0"/>
                <a:ea typeface="Calibri" pitchFamily="34" charset="-122"/>
                <a:cs typeface="Calibri" pitchFamily="34" charset="-120"/>
              </a:rPr>
              <a:t>Model A: Frozen BERT + Dense Head</a:t>
            </a:r>
            <a:endParaRPr lang="en-US" sz="2600" dirty="0"/>
          </a:p>
        </p:txBody>
      </p:sp>
      <p:sp>
        <p:nvSpPr>
          <p:cNvPr id="4" name="Text 2"/>
          <p:cNvSpPr txBox="1"/>
          <p:nvPr/>
        </p:nvSpPr>
        <p:spPr>
          <a:xfrm>
            <a:off x="502920" y="804672"/>
            <a:ext cx="813816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Pretrained ajtamayoh/Symptoms_to_Diagnosis_SonatafyAI_BERT_v1 as feature extractor</a:t>
            </a:r>
            <a:endParaRPr lang="en-US" sz="1300" dirty="0"/>
          </a:p>
        </p:txBody>
      </p:sp>
      <p:sp>
        <p:nvSpPr>
          <p:cNvPr id="5" name="Shape 3"/>
          <p:cNvSpPr/>
          <p:nvPr/>
        </p:nvSpPr>
        <p:spPr>
          <a:xfrm>
            <a:off x="502920" y="1645920"/>
            <a:ext cx="1188720" cy="1097280"/>
          </a:xfrm>
          <a:prstGeom prst="roundRect">
            <a:avLst>
              <a:gd name="adj" fmla="val 6667"/>
            </a:avLst>
          </a:prstGeom>
          <a:solidFill>
            <a:srgbClr val="12284C"/>
          </a:solidFill>
          <a:ln w="12700">
            <a:solidFill>
              <a:srgbClr val="FFFFFF"/>
            </a:solidFill>
            <a:prstDash val="solid"/>
          </a:ln>
        </p:spPr>
      </p:sp>
      <p:sp>
        <p:nvSpPr>
          <p:cNvPr id="6" name="Text 4"/>
          <p:cNvSpPr txBox="1"/>
          <p:nvPr/>
        </p:nvSpPr>
        <p:spPr>
          <a:xfrm>
            <a:off x="502920" y="1645920"/>
            <a:ext cx="1188720" cy="1097280"/>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Tokenizer</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max_len = 170</a:t>
            </a:r>
            <a:endParaRPr lang="en-US" sz="1100" dirty="0"/>
          </a:p>
        </p:txBody>
      </p:sp>
      <p:sp>
        <p:nvSpPr>
          <p:cNvPr id="7" name="Shape 5"/>
          <p:cNvSpPr/>
          <p:nvPr/>
        </p:nvSpPr>
        <p:spPr>
          <a:xfrm>
            <a:off x="1874520" y="1645920"/>
            <a:ext cx="1188720" cy="1097280"/>
          </a:xfrm>
          <a:prstGeom prst="roundRect">
            <a:avLst>
              <a:gd name="adj" fmla="val 6667"/>
            </a:avLst>
          </a:prstGeom>
          <a:solidFill>
            <a:srgbClr val="F28C28"/>
          </a:solidFill>
          <a:ln w="12700">
            <a:solidFill>
              <a:srgbClr val="FFFFFF"/>
            </a:solidFill>
            <a:prstDash val="solid"/>
          </a:ln>
        </p:spPr>
      </p:sp>
      <p:sp>
        <p:nvSpPr>
          <p:cNvPr id="8" name="Text 6"/>
          <p:cNvSpPr txBox="1"/>
          <p:nvPr/>
        </p:nvSpPr>
        <p:spPr>
          <a:xfrm>
            <a:off x="1874520" y="1645920"/>
            <a:ext cx="1188720" cy="1097280"/>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Frozen BERT</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[CLS] 768-d</a:t>
            </a:r>
            <a:endParaRPr lang="en-US" sz="1100" dirty="0"/>
          </a:p>
        </p:txBody>
      </p:sp>
      <p:sp>
        <p:nvSpPr>
          <p:cNvPr id="9" name="Shape 7"/>
          <p:cNvSpPr/>
          <p:nvPr/>
        </p:nvSpPr>
        <p:spPr>
          <a:xfrm>
            <a:off x="3246120" y="1645920"/>
            <a:ext cx="1188720" cy="1097280"/>
          </a:xfrm>
          <a:prstGeom prst="roundRect">
            <a:avLst>
              <a:gd name="adj" fmla="val 6667"/>
            </a:avLst>
          </a:prstGeom>
          <a:solidFill>
            <a:srgbClr val="0E9AA7"/>
          </a:solidFill>
          <a:ln w="12700">
            <a:solidFill>
              <a:srgbClr val="FFFFFF"/>
            </a:solidFill>
            <a:prstDash val="solid"/>
          </a:ln>
        </p:spPr>
      </p:sp>
      <p:sp>
        <p:nvSpPr>
          <p:cNvPr id="10" name="Text 8"/>
          <p:cNvSpPr txBox="1"/>
          <p:nvPr/>
        </p:nvSpPr>
        <p:spPr>
          <a:xfrm>
            <a:off x="3246120" y="1645920"/>
            <a:ext cx="1188720" cy="1097280"/>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Dense 128</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ReLU+BN+Drop .2</a:t>
            </a:r>
            <a:endParaRPr lang="en-US" sz="1100" dirty="0"/>
          </a:p>
        </p:txBody>
      </p:sp>
      <p:sp>
        <p:nvSpPr>
          <p:cNvPr id="11" name="Shape 9"/>
          <p:cNvSpPr/>
          <p:nvPr/>
        </p:nvSpPr>
        <p:spPr>
          <a:xfrm>
            <a:off x="4617720" y="1645920"/>
            <a:ext cx="1188720" cy="1097280"/>
          </a:xfrm>
          <a:prstGeom prst="roundRect">
            <a:avLst>
              <a:gd name="adj" fmla="val 6667"/>
            </a:avLst>
          </a:prstGeom>
          <a:solidFill>
            <a:srgbClr val="0E9AA7"/>
          </a:solidFill>
          <a:ln w="12700">
            <a:solidFill>
              <a:srgbClr val="FFFFFF"/>
            </a:solidFill>
            <a:prstDash val="solid"/>
          </a:ln>
        </p:spPr>
      </p:sp>
      <p:sp>
        <p:nvSpPr>
          <p:cNvPr id="12" name="Text 10"/>
          <p:cNvSpPr txBox="1"/>
          <p:nvPr/>
        </p:nvSpPr>
        <p:spPr>
          <a:xfrm>
            <a:off x="4617720" y="1645920"/>
            <a:ext cx="1188720" cy="1097280"/>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Dense 64</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ReLU+BN+Drop .1</a:t>
            </a:r>
            <a:endParaRPr lang="en-US" sz="1100" dirty="0"/>
          </a:p>
        </p:txBody>
      </p:sp>
      <p:sp>
        <p:nvSpPr>
          <p:cNvPr id="13" name="Shape 11"/>
          <p:cNvSpPr/>
          <p:nvPr/>
        </p:nvSpPr>
        <p:spPr>
          <a:xfrm>
            <a:off x="5989320" y="1645920"/>
            <a:ext cx="1188720" cy="1097280"/>
          </a:xfrm>
          <a:prstGeom prst="roundRect">
            <a:avLst>
              <a:gd name="adj" fmla="val 6667"/>
            </a:avLst>
          </a:prstGeom>
          <a:solidFill>
            <a:srgbClr val="0E9AA7"/>
          </a:solidFill>
          <a:ln w="12700">
            <a:solidFill>
              <a:srgbClr val="FFFFFF"/>
            </a:solidFill>
            <a:prstDash val="solid"/>
          </a:ln>
        </p:spPr>
      </p:sp>
      <p:sp>
        <p:nvSpPr>
          <p:cNvPr id="14" name="Text 12"/>
          <p:cNvSpPr txBox="1"/>
          <p:nvPr/>
        </p:nvSpPr>
        <p:spPr>
          <a:xfrm>
            <a:off x="5989320" y="1645920"/>
            <a:ext cx="1188720" cy="1097280"/>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Dense 32</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ReLU</a:t>
            </a:r>
            <a:endParaRPr lang="en-US" sz="1100" dirty="0"/>
          </a:p>
        </p:txBody>
      </p:sp>
      <p:sp>
        <p:nvSpPr>
          <p:cNvPr id="15" name="Shape 13"/>
          <p:cNvSpPr/>
          <p:nvPr/>
        </p:nvSpPr>
        <p:spPr>
          <a:xfrm>
            <a:off x="7360920" y="1645920"/>
            <a:ext cx="1188720" cy="1097280"/>
          </a:xfrm>
          <a:prstGeom prst="roundRect">
            <a:avLst>
              <a:gd name="adj" fmla="val 6667"/>
            </a:avLst>
          </a:prstGeom>
          <a:solidFill>
            <a:srgbClr val="12284C"/>
          </a:solidFill>
          <a:ln w="12700">
            <a:solidFill>
              <a:srgbClr val="FFFFFF"/>
            </a:solidFill>
            <a:prstDash val="solid"/>
          </a:ln>
        </p:spPr>
      </p:sp>
      <p:sp>
        <p:nvSpPr>
          <p:cNvPr id="16" name="Text 14"/>
          <p:cNvSpPr txBox="1"/>
          <p:nvPr/>
        </p:nvSpPr>
        <p:spPr>
          <a:xfrm>
            <a:off x="7360920" y="1645920"/>
            <a:ext cx="1188720" cy="1097280"/>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Softmax</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24 classes</a:t>
            </a:r>
            <a:endParaRPr lang="en-US" sz="1100" dirty="0"/>
          </a:p>
        </p:txBody>
      </p:sp>
      <p:sp>
        <p:nvSpPr>
          <p:cNvPr id="17" name="Text 15"/>
          <p:cNvSpPr txBox="1"/>
          <p:nvPr/>
        </p:nvSpPr>
        <p:spPr>
          <a:xfrm>
            <a:off x="502920" y="3108960"/>
            <a:ext cx="8138160" cy="1554480"/>
          </a:xfrm>
          <a:prstGeom prst="rect">
            <a:avLst/>
          </a:prstGeom>
          <a:noFill/>
          <a:ln/>
        </p:spPr>
        <p:txBody>
          <a:bodyPr wrap="square" rtlCol="0" anchor="t"/>
          <a:lstStyle/>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BERT weights frozen; only the head is trained (110,328 trainable parameters)</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Adam, lr 5e-5, clipnorm 1.0; sparse categorical cross-entropy; batch size 16, 20 epochs</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Callbacks: EarlyStopping, ModelCheckpoint, LearningRateScheduler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9AA7"/>
          </a:solidFill>
          <a:ln/>
        </p:spPr>
      </p:sp>
      <p:sp>
        <p:nvSpPr>
          <p:cNvPr id="3" name="Text 1"/>
          <p:cNvSpPr txBox="1"/>
          <p:nvPr/>
        </p:nvSpPr>
        <p:spPr>
          <a:xfrm>
            <a:off x="502920" y="274320"/>
            <a:ext cx="8138160" cy="548640"/>
          </a:xfrm>
          <a:prstGeom prst="rect">
            <a:avLst/>
          </a:prstGeom>
          <a:noFill/>
          <a:ln/>
        </p:spPr>
        <p:txBody>
          <a:bodyPr wrap="square" lIns="0" tIns="0" rIns="0" bIns="0" rtlCol="0" anchor="ctr"/>
          <a:lstStyle/>
          <a:p>
            <a:pPr indent="0" marL="0">
              <a:buNone/>
            </a:pPr>
            <a:r>
              <a:rPr lang="en-US" sz="2600" b="1" dirty="0">
                <a:solidFill>
                  <a:srgbClr val="12284C"/>
                </a:solidFill>
                <a:latin typeface="Calibri" pitchFamily="34" charset="0"/>
                <a:ea typeface="Calibri" pitchFamily="34" charset="-122"/>
                <a:cs typeface="Calibri" pitchFamily="34" charset="-120"/>
              </a:rPr>
              <a:t>Model B: TF-IDF + Logistic Regression</a:t>
            </a:r>
            <a:endParaRPr lang="en-US" sz="2600" dirty="0"/>
          </a:p>
        </p:txBody>
      </p:sp>
      <p:sp>
        <p:nvSpPr>
          <p:cNvPr id="4" name="Text 2"/>
          <p:cNvSpPr txBox="1"/>
          <p:nvPr/>
        </p:nvSpPr>
        <p:spPr>
          <a:xfrm>
            <a:off x="502920" y="804672"/>
            <a:ext cx="813816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Traditional sparse-feature baseline</a:t>
            </a:r>
            <a:endParaRPr lang="en-US" sz="1300" dirty="0"/>
          </a:p>
        </p:txBody>
      </p:sp>
      <p:sp>
        <p:nvSpPr>
          <p:cNvPr id="5" name="Shape 3"/>
          <p:cNvSpPr/>
          <p:nvPr/>
        </p:nvSpPr>
        <p:spPr>
          <a:xfrm>
            <a:off x="502920" y="1371600"/>
            <a:ext cx="2468880" cy="1371600"/>
          </a:xfrm>
          <a:prstGeom prst="roundRect">
            <a:avLst>
              <a:gd name="adj" fmla="val 6667"/>
            </a:avLst>
          </a:prstGeom>
          <a:solidFill>
            <a:srgbClr val="F3F6FA"/>
          </a:solidFill>
          <a:ln w="12700">
            <a:solidFill>
              <a:srgbClr val="F3F6FA"/>
            </a:solidFill>
            <a:prstDash val="solid"/>
          </a:ln>
        </p:spPr>
      </p:sp>
      <p:sp>
        <p:nvSpPr>
          <p:cNvPr id="6" name="Text 4"/>
          <p:cNvSpPr txBox="1"/>
          <p:nvPr/>
        </p:nvSpPr>
        <p:spPr>
          <a:xfrm>
            <a:off x="502920" y="1481328"/>
            <a:ext cx="2468880" cy="685800"/>
          </a:xfrm>
          <a:prstGeom prst="rect">
            <a:avLst/>
          </a:prstGeom>
          <a:noFill/>
          <a:ln/>
        </p:spPr>
        <p:txBody>
          <a:bodyPr wrap="square" lIns="0" tIns="0" rIns="0" bIns="0" rtlCol="0" anchor="ctr"/>
          <a:lstStyle/>
          <a:p>
            <a:pPr algn="ctr" indent="0" marL="0">
              <a:buNone/>
            </a:pPr>
            <a:r>
              <a:rPr lang="en-US" sz="2800" b="1" dirty="0">
                <a:solidFill>
                  <a:srgbClr val="0E9AA7"/>
                </a:solidFill>
                <a:latin typeface="Calibri" pitchFamily="34" charset="0"/>
                <a:ea typeface="Calibri" pitchFamily="34" charset="-122"/>
                <a:cs typeface="Calibri" pitchFamily="34" charset="-120"/>
              </a:rPr>
              <a:t>1–2</a:t>
            </a:r>
            <a:endParaRPr lang="en-US" sz="2800" dirty="0"/>
          </a:p>
        </p:txBody>
      </p:sp>
      <p:sp>
        <p:nvSpPr>
          <p:cNvPr id="7" name="Text 5"/>
          <p:cNvSpPr txBox="1"/>
          <p:nvPr/>
        </p:nvSpPr>
        <p:spPr>
          <a:xfrm>
            <a:off x="594360" y="2167128"/>
            <a:ext cx="2286000" cy="521208"/>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n-grams (unigrams + bigrams)</a:t>
            </a:r>
            <a:endParaRPr lang="en-US" sz="1200" dirty="0"/>
          </a:p>
        </p:txBody>
      </p:sp>
      <p:sp>
        <p:nvSpPr>
          <p:cNvPr id="8" name="Shape 6"/>
          <p:cNvSpPr/>
          <p:nvPr/>
        </p:nvSpPr>
        <p:spPr>
          <a:xfrm>
            <a:off x="3154680" y="1371600"/>
            <a:ext cx="2468880" cy="1371600"/>
          </a:xfrm>
          <a:prstGeom prst="roundRect">
            <a:avLst>
              <a:gd name="adj" fmla="val 6667"/>
            </a:avLst>
          </a:prstGeom>
          <a:solidFill>
            <a:srgbClr val="F3F6FA"/>
          </a:solidFill>
          <a:ln w="12700">
            <a:solidFill>
              <a:srgbClr val="F3F6FA"/>
            </a:solidFill>
            <a:prstDash val="solid"/>
          </a:ln>
        </p:spPr>
      </p:sp>
      <p:sp>
        <p:nvSpPr>
          <p:cNvPr id="9" name="Text 7"/>
          <p:cNvSpPr txBox="1"/>
          <p:nvPr/>
        </p:nvSpPr>
        <p:spPr>
          <a:xfrm>
            <a:off x="3154680" y="1481328"/>
            <a:ext cx="2468880" cy="685800"/>
          </a:xfrm>
          <a:prstGeom prst="rect">
            <a:avLst/>
          </a:prstGeom>
          <a:noFill/>
          <a:ln/>
        </p:spPr>
        <p:txBody>
          <a:bodyPr wrap="square" lIns="0" tIns="0" rIns="0" bIns="0" rtlCol="0" anchor="ctr"/>
          <a:lstStyle/>
          <a:p>
            <a:pPr algn="ctr" indent="0" marL="0">
              <a:buNone/>
            </a:pPr>
            <a:r>
              <a:rPr lang="en-US" sz="2800" b="1" dirty="0">
                <a:solidFill>
                  <a:srgbClr val="F28C28"/>
                </a:solidFill>
                <a:latin typeface="Calibri" pitchFamily="34" charset="0"/>
                <a:ea typeface="Calibri" pitchFamily="34" charset="-122"/>
                <a:cs typeface="Calibri" pitchFamily="34" charset="-120"/>
              </a:rPr>
              <a:t>sublinear</a:t>
            </a:r>
            <a:endParaRPr lang="en-US" sz="2800" dirty="0"/>
          </a:p>
        </p:txBody>
      </p:sp>
      <p:sp>
        <p:nvSpPr>
          <p:cNvPr id="10" name="Text 8"/>
          <p:cNvSpPr txBox="1"/>
          <p:nvPr/>
        </p:nvSpPr>
        <p:spPr>
          <a:xfrm>
            <a:off x="3246120" y="2167128"/>
            <a:ext cx="2286000" cy="521208"/>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TF scaling</a:t>
            </a:r>
            <a:endParaRPr lang="en-US" sz="1200" dirty="0"/>
          </a:p>
        </p:txBody>
      </p:sp>
      <p:sp>
        <p:nvSpPr>
          <p:cNvPr id="11" name="Shape 9"/>
          <p:cNvSpPr/>
          <p:nvPr/>
        </p:nvSpPr>
        <p:spPr>
          <a:xfrm>
            <a:off x="5806440" y="1371600"/>
            <a:ext cx="2834640" cy="1371600"/>
          </a:xfrm>
          <a:prstGeom prst="roundRect">
            <a:avLst>
              <a:gd name="adj" fmla="val 6667"/>
            </a:avLst>
          </a:prstGeom>
          <a:solidFill>
            <a:srgbClr val="F3F6FA"/>
          </a:solidFill>
          <a:ln w="12700">
            <a:solidFill>
              <a:srgbClr val="F3F6FA"/>
            </a:solidFill>
            <a:prstDash val="solid"/>
          </a:ln>
        </p:spPr>
      </p:sp>
      <p:sp>
        <p:nvSpPr>
          <p:cNvPr id="12" name="Text 10"/>
          <p:cNvSpPr txBox="1"/>
          <p:nvPr/>
        </p:nvSpPr>
        <p:spPr>
          <a:xfrm>
            <a:off x="5806440" y="1481328"/>
            <a:ext cx="2834640" cy="685800"/>
          </a:xfrm>
          <a:prstGeom prst="rect">
            <a:avLst/>
          </a:prstGeom>
          <a:noFill/>
          <a:ln/>
        </p:spPr>
        <p:txBody>
          <a:bodyPr wrap="square" lIns="0" tIns="0" rIns="0" bIns="0" rtlCol="0" anchor="ctr"/>
          <a:lstStyle/>
          <a:p>
            <a:pPr algn="ctr" indent="0" marL="0">
              <a:buNone/>
            </a:pPr>
            <a:r>
              <a:rPr lang="en-US" sz="2800" b="1" dirty="0">
                <a:solidFill>
                  <a:srgbClr val="0E9AA7"/>
                </a:solidFill>
                <a:latin typeface="Calibri" pitchFamily="34" charset="0"/>
                <a:ea typeface="Calibri" pitchFamily="34" charset="-122"/>
                <a:cs typeface="Calibri" pitchFamily="34" charset="-120"/>
              </a:rPr>
              <a:t>balanced</a:t>
            </a:r>
            <a:endParaRPr lang="en-US" sz="2800" dirty="0"/>
          </a:p>
        </p:txBody>
      </p:sp>
      <p:sp>
        <p:nvSpPr>
          <p:cNvPr id="13" name="Text 11"/>
          <p:cNvSpPr txBox="1"/>
          <p:nvPr/>
        </p:nvSpPr>
        <p:spPr>
          <a:xfrm>
            <a:off x="5897880" y="2167128"/>
            <a:ext cx="2651760" cy="521208"/>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class weights, max_iter = 2000</a:t>
            </a:r>
            <a:endParaRPr lang="en-US" sz="1200" dirty="0"/>
          </a:p>
        </p:txBody>
      </p:sp>
      <p:sp>
        <p:nvSpPr>
          <p:cNvPr id="14" name="Text 12"/>
          <p:cNvSpPr txBox="1"/>
          <p:nvPr/>
        </p:nvSpPr>
        <p:spPr>
          <a:xfrm>
            <a:off x="502920" y="3108960"/>
            <a:ext cx="8138160" cy="1554480"/>
          </a:xfrm>
          <a:prstGeom prst="rect">
            <a:avLst/>
          </a:prstGeom>
          <a:noFill/>
          <a:ln/>
        </p:spPr>
        <p:txBody>
          <a:bodyPr wrap="square" rtlCol="0" anchor="t"/>
          <a:lstStyle/>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Same cleaned text and identical stratified split (random_state = 101) as Model A</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Vectorizer fitted on training data only to avoid leakage</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Trains in seconds on CPU, versus roughly 8 minutes per BERT epoch</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9AA7"/>
          </a:solidFill>
          <a:ln/>
        </p:spPr>
      </p:sp>
      <p:sp>
        <p:nvSpPr>
          <p:cNvPr id="3" name="Text 1"/>
          <p:cNvSpPr txBox="1"/>
          <p:nvPr/>
        </p:nvSpPr>
        <p:spPr>
          <a:xfrm>
            <a:off x="502920" y="274320"/>
            <a:ext cx="8138160" cy="548640"/>
          </a:xfrm>
          <a:prstGeom prst="rect">
            <a:avLst/>
          </a:prstGeom>
          <a:noFill/>
          <a:ln/>
        </p:spPr>
        <p:txBody>
          <a:bodyPr wrap="square" lIns="0" tIns="0" rIns="0" bIns="0" rtlCol="0" anchor="ctr"/>
          <a:lstStyle/>
          <a:p>
            <a:pPr indent="0" marL="0">
              <a:buNone/>
            </a:pPr>
            <a:r>
              <a:rPr lang="en-US" sz="2600" b="1" dirty="0">
                <a:solidFill>
                  <a:srgbClr val="12284C"/>
                </a:solidFill>
                <a:latin typeface="Calibri" pitchFamily="34" charset="0"/>
                <a:ea typeface="Calibri" pitchFamily="34" charset="-122"/>
                <a:cs typeface="Calibri" pitchFamily="34" charset="-120"/>
              </a:rPr>
              <a:t>Model A: Training Behaviour</a:t>
            </a:r>
            <a:endParaRPr lang="en-US" sz="2600" dirty="0"/>
          </a:p>
        </p:txBody>
      </p:sp>
      <p:graphicFrame>
        <p:nvGraphicFramePr>
          <p:cNvPr id="4" name="Chart 0" descr=""/>
          <p:cNvGraphicFramePr/>
          <p:nvPr/>
        </p:nvGraphicFramePr>
        <p:xfrm>
          <a:off x="502920" y="1005840"/>
          <a:ext cx="5120640" cy="3200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806440" y="1188720"/>
            <a:ext cx="2926080" cy="3200400"/>
          </a:xfrm>
          <a:prstGeom prst="rect">
            <a:avLst/>
          </a:prstGeom>
          <a:noFill/>
          <a:ln/>
        </p:spPr>
        <p:txBody>
          <a:bodyPr wrap="square" rtlCol="0" anchor="t"/>
          <a:lstStyle/>
          <a:p>
            <a:pPr marL="342900" indent="-3429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Validation accuracy reached 87.9% at epoch 20 (best epoch)</a:t>
            </a:r>
            <a:endParaRPr lang="en-US" sz="1300" dirty="0"/>
          </a:p>
          <a:p>
            <a:pPr marL="342900" indent="-3429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Loss fell from about 3.1 to 1.1 (train) and 0.89 (val)</a:t>
            </a:r>
            <a:endParaRPr lang="en-US" sz="1300" dirty="0"/>
          </a:p>
          <a:p>
            <a:pPr marL="342900" indent="-3429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Curves were still improving at epoch 20, so the head is likely under-trained</a:t>
            </a:r>
            <a:endParaRPr lang="en-US" sz="1300" dirty="0"/>
          </a:p>
        </p:txBody>
      </p:sp>
      <p:sp>
        <p:nvSpPr>
          <p:cNvPr id="6" name="Shape 3"/>
          <p:cNvSpPr/>
          <p:nvPr/>
        </p:nvSpPr>
        <p:spPr>
          <a:xfrm>
            <a:off x="502920" y="4526280"/>
            <a:ext cx="8138160" cy="411480"/>
          </a:xfrm>
          <a:prstGeom prst="roundRect">
            <a:avLst>
              <a:gd name="adj" fmla="val 17778"/>
            </a:avLst>
          </a:prstGeom>
          <a:solidFill>
            <a:srgbClr val="12284C"/>
          </a:solidFill>
          <a:ln w="12700">
            <a:solidFill>
              <a:srgbClr val="12284C"/>
            </a:solidFill>
            <a:prstDash val="solid"/>
          </a:ln>
        </p:spPr>
      </p:sp>
      <p:sp>
        <p:nvSpPr>
          <p:cNvPr id="7" name="Text 4"/>
          <p:cNvSpPr txBox="1"/>
          <p:nvPr/>
        </p:nvSpPr>
        <p:spPr>
          <a:xfrm>
            <a:off x="685800" y="4526280"/>
            <a:ext cx="7772400" cy="411480"/>
          </a:xfrm>
          <a:prstGeom prst="rect">
            <a:avLst/>
          </a:prstGeom>
          <a:noFill/>
          <a:ln/>
        </p:spPr>
        <p:txBody>
          <a:bodyPr wrap="square" lIns="0" tIns="0" rIns="0" bIns="0" rtlCol="0" anchor="ctr"/>
          <a:lstStyle/>
          <a:p>
            <a:pPr indent="0" marL="0">
              <a:buNone/>
            </a:pPr>
            <a:r>
              <a:rPr lang="en-US" sz="1200" b="1" dirty="0">
                <a:solidFill>
                  <a:srgbClr val="F28C28"/>
                </a:solidFill>
                <a:latin typeface="Calibri" pitchFamily="34" charset="0"/>
                <a:ea typeface="Calibri" pitchFamily="34" charset="-122"/>
                <a:cs typeface="Calibri" pitchFamily="34" charset="-120"/>
              </a:rPr>
              <a:t>INSIGHT  </a:t>
            </a:r>
            <a:pPr indent="0" marL="0">
              <a:buNone/>
            </a:pPr>
            <a:r>
              <a:rPr lang="en-US" sz="1200" dirty="0">
                <a:solidFill>
                  <a:srgbClr val="FFFFFF"/>
                </a:solidFill>
                <a:latin typeface="Calibri" pitchFamily="34" charset="0"/>
                <a:ea typeface="Calibri" pitchFamily="34" charset="-122"/>
                <a:cs typeface="Calibri" pitchFamily="34" charset="-120"/>
              </a:rPr>
              <a:t>Validation accuracy was still climbing at epoch 20, so longer training could improve BERT.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9AA7"/>
          </a:solidFill>
          <a:ln/>
        </p:spPr>
      </p:sp>
      <p:sp>
        <p:nvSpPr>
          <p:cNvPr id="3" name="Text 1"/>
          <p:cNvSpPr txBox="1"/>
          <p:nvPr/>
        </p:nvSpPr>
        <p:spPr>
          <a:xfrm>
            <a:off x="502920" y="274320"/>
            <a:ext cx="8138160" cy="548640"/>
          </a:xfrm>
          <a:prstGeom prst="rect">
            <a:avLst/>
          </a:prstGeom>
          <a:noFill/>
          <a:ln/>
        </p:spPr>
        <p:txBody>
          <a:bodyPr wrap="square" lIns="0" tIns="0" rIns="0" bIns="0" rtlCol="0" anchor="ctr"/>
          <a:lstStyle/>
          <a:p>
            <a:pPr indent="0" marL="0">
              <a:buNone/>
            </a:pPr>
            <a:r>
              <a:rPr lang="en-US" sz="2600" b="1" dirty="0">
                <a:solidFill>
                  <a:srgbClr val="12284C"/>
                </a:solidFill>
                <a:latin typeface="Calibri" pitchFamily="34" charset="0"/>
                <a:ea typeface="Calibri" pitchFamily="34" charset="-122"/>
                <a:cs typeface="Calibri" pitchFamily="34" charset="-120"/>
              </a:rPr>
              <a:t>Results: BERT vs. TF-IDF + LR</a:t>
            </a:r>
            <a:endParaRPr lang="en-US" sz="2600" dirty="0"/>
          </a:p>
        </p:txBody>
      </p:sp>
      <p:sp>
        <p:nvSpPr>
          <p:cNvPr id="4" name="Text 2"/>
          <p:cNvSpPr txBox="1"/>
          <p:nvPr/>
        </p:nvSpPr>
        <p:spPr>
          <a:xfrm>
            <a:off x="502920" y="804672"/>
            <a:ext cx="813816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Held-out test set (173 samples), identical split for both models</a:t>
            </a:r>
            <a:endParaRPr lang="en-US" sz="1300" dirty="0"/>
          </a:p>
        </p:txBody>
      </p:sp>
      <p:graphicFrame>
        <p:nvGraphicFramePr>
          <p:cNvPr id="5" name="Chart 0" descr=""/>
          <p:cNvGraphicFramePr/>
          <p:nvPr/>
        </p:nvGraphicFramePr>
        <p:xfrm>
          <a:off x="502920" y="1188720"/>
          <a:ext cx="548640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263640" y="1280160"/>
            <a:ext cx="2377440" cy="1371600"/>
          </a:xfrm>
          <a:prstGeom prst="roundRect">
            <a:avLst>
              <a:gd name="adj" fmla="val 6667"/>
            </a:avLst>
          </a:prstGeom>
          <a:solidFill>
            <a:srgbClr val="F3F6FA"/>
          </a:solidFill>
          <a:ln w="12700">
            <a:solidFill>
              <a:srgbClr val="F3F6FA"/>
            </a:solidFill>
            <a:prstDash val="solid"/>
          </a:ln>
        </p:spPr>
      </p:sp>
      <p:sp>
        <p:nvSpPr>
          <p:cNvPr id="7" name="Text 4"/>
          <p:cNvSpPr txBox="1"/>
          <p:nvPr/>
        </p:nvSpPr>
        <p:spPr>
          <a:xfrm>
            <a:off x="6263640" y="1389888"/>
            <a:ext cx="2377440" cy="685800"/>
          </a:xfrm>
          <a:prstGeom prst="rect">
            <a:avLst/>
          </a:prstGeom>
          <a:noFill/>
          <a:ln/>
        </p:spPr>
        <p:txBody>
          <a:bodyPr wrap="square" lIns="0" tIns="0" rIns="0" bIns="0" rtlCol="0" anchor="ctr"/>
          <a:lstStyle/>
          <a:p>
            <a:pPr algn="ctr" indent="0" marL="0">
              <a:buNone/>
            </a:pPr>
            <a:r>
              <a:rPr lang="en-US" sz="2800" b="1" dirty="0">
                <a:solidFill>
                  <a:srgbClr val="F28C28"/>
                </a:solidFill>
                <a:latin typeface="Calibri" pitchFamily="34" charset="0"/>
                <a:ea typeface="Calibri" pitchFamily="34" charset="-122"/>
                <a:cs typeface="Calibri" pitchFamily="34" charset="-120"/>
              </a:rPr>
              <a:t>+10.4 pts</a:t>
            </a:r>
            <a:endParaRPr lang="en-US" sz="2800" dirty="0"/>
          </a:p>
        </p:txBody>
      </p:sp>
      <p:sp>
        <p:nvSpPr>
          <p:cNvPr id="8" name="Text 5"/>
          <p:cNvSpPr txBox="1"/>
          <p:nvPr/>
        </p:nvSpPr>
        <p:spPr>
          <a:xfrm>
            <a:off x="6355080" y="2075688"/>
            <a:ext cx="2194560" cy="521208"/>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accuracy gain for TF-IDF + LR</a:t>
            </a:r>
            <a:endParaRPr lang="en-US" sz="1200" dirty="0"/>
          </a:p>
        </p:txBody>
      </p:sp>
      <p:sp>
        <p:nvSpPr>
          <p:cNvPr id="9" name="Text 6"/>
          <p:cNvSpPr txBox="1"/>
          <p:nvPr/>
        </p:nvSpPr>
        <p:spPr>
          <a:xfrm>
            <a:off x="6263640" y="2834640"/>
            <a:ext cx="2377440" cy="1097280"/>
          </a:xfrm>
          <a:prstGeom prst="rect">
            <a:avLst/>
          </a:prstGeom>
          <a:noFill/>
          <a:ln/>
        </p:spPr>
        <p:txBody>
          <a:bodyPr wrap="square" lIns="0" tIns="0" rIns="0" bIns="0" rtlCol="0" anchor="t"/>
          <a:lstStyle/>
          <a:p>
            <a:pPr indent="0" marL="0">
              <a:buNone/>
            </a:pPr>
            <a:r>
              <a:rPr lang="en-US" sz="1400" b="1" dirty="0">
                <a:solidFill>
                  <a:srgbClr val="12284C"/>
                </a:solidFill>
                <a:latin typeface="Calibri" pitchFamily="34" charset="0"/>
                <a:ea typeface="Calibri" pitchFamily="34" charset="-122"/>
                <a:cs typeface="Calibri" pitchFamily="34" charset="-120"/>
              </a:rPr>
              <a:t>TF-IDF + LR outperformed frozen BERT on every metric.</a:t>
            </a:r>
            <a:endParaRPr lang="en-US" sz="1400" dirty="0"/>
          </a:p>
        </p:txBody>
      </p:sp>
      <p:sp>
        <p:nvSpPr>
          <p:cNvPr id="10" name="Shape 7"/>
          <p:cNvSpPr/>
          <p:nvPr/>
        </p:nvSpPr>
        <p:spPr>
          <a:xfrm>
            <a:off x="502920" y="4526280"/>
            <a:ext cx="8138160" cy="411480"/>
          </a:xfrm>
          <a:prstGeom prst="roundRect">
            <a:avLst>
              <a:gd name="adj" fmla="val 17778"/>
            </a:avLst>
          </a:prstGeom>
          <a:solidFill>
            <a:srgbClr val="12284C"/>
          </a:solidFill>
          <a:ln w="12700">
            <a:solidFill>
              <a:srgbClr val="12284C"/>
            </a:solidFill>
            <a:prstDash val="solid"/>
          </a:ln>
        </p:spPr>
      </p:sp>
      <p:sp>
        <p:nvSpPr>
          <p:cNvPr id="11" name="Text 8"/>
          <p:cNvSpPr txBox="1"/>
          <p:nvPr/>
        </p:nvSpPr>
        <p:spPr>
          <a:xfrm>
            <a:off x="685800" y="4526280"/>
            <a:ext cx="7772400" cy="411480"/>
          </a:xfrm>
          <a:prstGeom prst="rect">
            <a:avLst/>
          </a:prstGeom>
          <a:noFill/>
          <a:ln/>
        </p:spPr>
        <p:txBody>
          <a:bodyPr wrap="square" lIns="0" tIns="0" rIns="0" bIns="0" rtlCol="0" anchor="ctr"/>
          <a:lstStyle/>
          <a:p>
            <a:pPr indent="0" marL="0">
              <a:buNone/>
            </a:pPr>
            <a:r>
              <a:rPr lang="en-US" sz="1200" b="1" dirty="0">
                <a:solidFill>
                  <a:srgbClr val="F28C28"/>
                </a:solidFill>
                <a:latin typeface="Calibri" pitchFamily="34" charset="0"/>
                <a:ea typeface="Calibri" pitchFamily="34" charset="-122"/>
                <a:cs typeface="Calibri" pitchFamily="34" charset="-120"/>
              </a:rPr>
              <a:t>INSIGHT  </a:t>
            </a:r>
            <a:pPr indent="0" marL="0">
              <a:buNone/>
            </a:pPr>
            <a:r>
              <a:rPr lang="en-US" sz="1200" dirty="0">
                <a:solidFill>
                  <a:srgbClr val="FFFFFF"/>
                </a:solidFill>
                <a:latin typeface="Calibri" pitchFamily="34" charset="0"/>
                <a:ea typeface="Calibri" pitchFamily="34" charset="-122"/>
                <a:cs typeface="Calibri" pitchFamily="34" charset="-120"/>
              </a:rPr>
              <a:t>Frozen BERT loses 10.4 accuracy points and needs minutes per epoch, while TF-IDF + LR trains in seconds.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9AA7"/>
          </a:solidFill>
          <a:ln/>
        </p:spPr>
      </p:sp>
      <p:sp>
        <p:nvSpPr>
          <p:cNvPr id="3" name="Text 1"/>
          <p:cNvSpPr txBox="1"/>
          <p:nvPr/>
        </p:nvSpPr>
        <p:spPr>
          <a:xfrm>
            <a:off x="502920" y="274320"/>
            <a:ext cx="8138160" cy="548640"/>
          </a:xfrm>
          <a:prstGeom prst="rect">
            <a:avLst/>
          </a:prstGeom>
          <a:noFill/>
          <a:ln/>
        </p:spPr>
        <p:txBody>
          <a:bodyPr wrap="square" lIns="0" tIns="0" rIns="0" bIns="0" rtlCol="0" anchor="ctr"/>
          <a:lstStyle/>
          <a:p>
            <a:pPr indent="0" marL="0">
              <a:buNone/>
            </a:pPr>
            <a:r>
              <a:rPr lang="en-US" sz="2600" b="1" dirty="0">
                <a:solidFill>
                  <a:srgbClr val="12284C"/>
                </a:solidFill>
                <a:latin typeface="Calibri" pitchFamily="34" charset="0"/>
                <a:ea typeface="Calibri" pitchFamily="34" charset="-122"/>
                <a:cs typeface="Calibri" pitchFamily="34" charset="-120"/>
              </a:rPr>
              <a:t>Models at a Glance</a:t>
            </a:r>
            <a:endParaRPr lang="en-US" sz="2600" dirty="0"/>
          </a:p>
        </p:txBody>
      </p:sp>
      <p:sp>
        <p:nvSpPr>
          <p:cNvPr id="4" name="Text 2"/>
          <p:cNvSpPr txBox="1"/>
          <p:nvPr/>
        </p:nvSpPr>
        <p:spPr>
          <a:xfrm>
            <a:off x="502920" y="804672"/>
            <a:ext cx="813816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Side-by-side comparison</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8138160" cy="914400"/>
        </p:xfrm>
        <a:graphic>
          <a:graphicData uri="http://schemas.openxmlformats.org/drawingml/2006/table">
            <a:tbl>
              <a:tblPr/>
              <a:tblGrid>
                <a:gridCol w="2194560"/>
                <a:gridCol w="3017520"/>
                <a:gridCol w="2926080"/>
              </a:tblGrid>
              <a:tr h="402336">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Aspect</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2284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BERT + dense head</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2284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TF-IDF + LR</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2284C"/>
                    </a:solidFill>
                  </a:tcPr>
                </a:tc>
              </a:tr>
              <a:tr h="402336">
                <a:tc>
                  <a:txBody>
                    <a:bodyPr/>
                    <a:lstStyle/>
                    <a:p>
                      <a:pPr indent="0" marL="0">
                        <a:buNone/>
                      </a:pPr>
                      <a:r>
                        <a:rPr lang="en-US" sz="1300" b="1" dirty="0">
                          <a:solidFill>
                            <a:srgbClr val="12284C"/>
                          </a:solidFill>
                          <a:latin typeface="Calibri" pitchFamily="34" charset="0"/>
                          <a:ea typeface="Calibri" pitchFamily="34" charset="-122"/>
                          <a:cs typeface="Calibri" pitchFamily="34" charset="-120"/>
                        </a:rPr>
                        <a:t>Features</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768-d [CLS] embedding (contextual)</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7,847 sparse uni/bigrams</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2284C"/>
                          </a:solidFill>
                          <a:latin typeface="Calibri" pitchFamily="34" charset="0"/>
                          <a:ea typeface="Calibri" pitchFamily="34" charset="-122"/>
                          <a:cs typeface="Calibri" pitchFamily="34" charset="-120"/>
                        </a:rPr>
                        <a:t>Trainable parameters</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110,328 (BERT frozen)</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Linear weights per class</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2284C"/>
                          </a:solidFill>
                          <a:latin typeface="Calibri" pitchFamily="34" charset="0"/>
                          <a:ea typeface="Calibri" pitchFamily="34" charset="-122"/>
                          <a:cs typeface="Calibri" pitchFamily="34" charset="-120"/>
                        </a:rPr>
                        <a:t>Training time</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~8 min per epoch, 20 epochs</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Seconds on CPU</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2284C"/>
                          </a:solidFill>
                          <a:latin typeface="Calibri" pitchFamily="34" charset="0"/>
                          <a:ea typeface="Calibri" pitchFamily="34" charset="-122"/>
                          <a:cs typeface="Calibri" pitchFamily="34" charset="-120"/>
                        </a:rPr>
                        <a:t>Accuracy</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84.97%</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95.38%</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2284C"/>
                          </a:solidFill>
                          <a:latin typeface="Calibri" pitchFamily="34" charset="0"/>
                          <a:ea typeface="Calibri" pitchFamily="34" charset="-122"/>
                          <a:cs typeface="Calibri" pitchFamily="34" charset="-120"/>
                        </a:rPr>
                        <a:t>Macro-F1</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0.844</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0.954</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2284C"/>
                          </a:solidFill>
                          <a:latin typeface="Calibri" pitchFamily="34" charset="0"/>
                          <a:ea typeface="Calibri" pitchFamily="34" charset="-122"/>
                          <a:cs typeface="Calibri" pitchFamily="34" charset="-120"/>
                        </a:rPr>
                        <a:t>Interpretability</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Low (black box)</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High (term weights)</a:t>
                      </a:r>
                      <a:endParaRPr lang="en-US" sz="1300" dirty="0">
                        <a:latin typeface="Calibri" charset="0"/>
                        <a:ea typeface="Calibri" charset="0"/>
                        <a:cs typeface="Calibri"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bl>
          </a:graphicData>
        </a:graphic>
      </p:graphicFrame>
      <p:sp>
        <p:nvSpPr>
          <p:cNvPr id="6" name="Shape 3"/>
          <p:cNvSpPr/>
          <p:nvPr/>
        </p:nvSpPr>
        <p:spPr>
          <a:xfrm>
            <a:off x="502920" y="4526280"/>
            <a:ext cx="8138160" cy="411480"/>
          </a:xfrm>
          <a:prstGeom prst="roundRect">
            <a:avLst>
              <a:gd name="adj" fmla="val 17778"/>
            </a:avLst>
          </a:prstGeom>
          <a:solidFill>
            <a:srgbClr val="12284C"/>
          </a:solidFill>
          <a:ln w="12700">
            <a:solidFill>
              <a:srgbClr val="12284C"/>
            </a:solidFill>
            <a:prstDash val="solid"/>
          </a:ln>
        </p:spPr>
      </p:sp>
      <p:sp>
        <p:nvSpPr>
          <p:cNvPr id="7" name="Text 4"/>
          <p:cNvSpPr txBox="1"/>
          <p:nvPr/>
        </p:nvSpPr>
        <p:spPr>
          <a:xfrm>
            <a:off x="685800" y="4526280"/>
            <a:ext cx="7772400" cy="411480"/>
          </a:xfrm>
          <a:prstGeom prst="rect">
            <a:avLst/>
          </a:prstGeom>
          <a:noFill/>
          <a:ln/>
        </p:spPr>
        <p:txBody>
          <a:bodyPr wrap="square" lIns="0" tIns="0" rIns="0" bIns="0" rtlCol="0" anchor="ctr"/>
          <a:lstStyle/>
          <a:p>
            <a:pPr indent="0" marL="0">
              <a:buNone/>
            </a:pPr>
            <a:r>
              <a:rPr lang="en-US" sz="1200" b="1" dirty="0">
                <a:solidFill>
                  <a:srgbClr val="F28C28"/>
                </a:solidFill>
                <a:latin typeface="Calibri" pitchFamily="34" charset="0"/>
                <a:ea typeface="Calibri" pitchFamily="34" charset="-122"/>
                <a:cs typeface="Calibri" pitchFamily="34" charset="-120"/>
              </a:rPr>
              <a:t>INSIGHT  </a:t>
            </a:r>
            <a:pPr indent="0" marL="0">
              <a:buNone/>
            </a:pPr>
            <a:r>
              <a:rPr lang="en-US" sz="1200" dirty="0">
                <a:solidFill>
                  <a:srgbClr val="FFFFFF"/>
                </a:solidFill>
                <a:latin typeface="Calibri" pitchFamily="34" charset="0"/>
                <a:ea typeface="Calibri" pitchFamily="34" charset="-122"/>
                <a:cs typeface="Calibri" pitchFamily="34" charset="-120"/>
              </a:rPr>
              <a:t>On short, keyword-rich symptom text, sparse n-gram features capture the signal as well as deep embeddings.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9AA7"/>
          </a:solidFill>
          <a:ln/>
        </p:spPr>
      </p:sp>
      <p:sp>
        <p:nvSpPr>
          <p:cNvPr id="3" name="Text 1"/>
          <p:cNvSpPr txBox="1"/>
          <p:nvPr/>
        </p:nvSpPr>
        <p:spPr>
          <a:xfrm>
            <a:off x="502920" y="274320"/>
            <a:ext cx="8138160" cy="548640"/>
          </a:xfrm>
          <a:prstGeom prst="rect">
            <a:avLst/>
          </a:prstGeom>
          <a:noFill/>
          <a:ln/>
        </p:spPr>
        <p:txBody>
          <a:bodyPr wrap="square" lIns="0" tIns="0" rIns="0" bIns="0" rtlCol="0" anchor="ctr"/>
          <a:lstStyle/>
          <a:p>
            <a:pPr indent="0" marL="0">
              <a:buNone/>
            </a:pPr>
            <a:r>
              <a:rPr lang="en-US" sz="2600" b="1" dirty="0">
                <a:solidFill>
                  <a:srgbClr val="12284C"/>
                </a:solidFill>
                <a:latin typeface="Calibri" pitchFamily="34" charset="0"/>
                <a:ea typeface="Calibri" pitchFamily="34" charset="-122"/>
                <a:cs typeface="Calibri" pitchFamily="34" charset="-120"/>
              </a:rPr>
              <a:t>Per-class F1: Where BERT Struggled</a:t>
            </a:r>
            <a:endParaRPr lang="en-US" sz="2600" dirty="0"/>
          </a:p>
        </p:txBody>
      </p:sp>
      <p:sp>
        <p:nvSpPr>
          <p:cNvPr id="4" name="Text 2"/>
          <p:cNvSpPr txBox="1"/>
          <p:nvPr/>
        </p:nvSpPr>
        <p:spPr>
          <a:xfrm>
            <a:off x="502920" y="804672"/>
            <a:ext cx="813816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Weakest BERT classes vs. the same classes under TF-IDF + LR</a:t>
            </a:r>
            <a:endParaRPr lang="en-US" sz="1300" dirty="0"/>
          </a:p>
        </p:txBody>
      </p:sp>
      <p:graphicFrame>
        <p:nvGraphicFramePr>
          <p:cNvPr id="5" name="Chart 0" descr=""/>
          <p:cNvGraphicFramePr/>
          <p:nvPr/>
        </p:nvGraphicFramePr>
        <p:xfrm>
          <a:off x="502920" y="1188720"/>
          <a:ext cx="5669280" cy="3200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400800" y="1188720"/>
            <a:ext cx="2286000" cy="3474720"/>
          </a:xfrm>
          <a:prstGeom prst="rect">
            <a:avLst/>
          </a:prstGeom>
          <a:noFill/>
          <a:ln/>
        </p:spPr>
        <p:txBody>
          <a:bodyPr wrap="square" rtlCol="0" anchor="t"/>
          <a:lstStyle/>
          <a:p>
            <a:pPr marL="342900" indent="-3429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BERT confused peptic ulcer with GERD (4 of 7 cases) and spread diabetes across several classes</a:t>
            </a:r>
            <a:endParaRPr lang="en-US" sz="1200" dirty="0"/>
          </a:p>
          <a:p>
            <a:pPr marL="342900" indent="-3429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Overlapping digestive symptoms are hard for a frozen encoder</a:t>
            </a:r>
            <a:endParaRPr lang="en-US" sz="1200" dirty="0"/>
          </a:p>
          <a:p>
            <a:pPr marL="342900" indent="-3429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Both models score 1.00 on Acne, Arthritis, Jaundice, Malaria and UTI</a:t>
            </a:r>
            <a:endParaRPr lang="en-US" sz="1200" dirty="0"/>
          </a:p>
        </p:txBody>
      </p:sp>
      <p:sp>
        <p:nvSpPr>
          <p:cNvPr id="7" name="Shape 4"/>
          <p:cNvSpPr/>
          <p:nvPr/>
        </p:nvSpPr>
        <p:spPr>
          <a:xfrm>
            <a:off x="502920" y="4526280"/>
            <a:ext cx="8138160" cy="411480"/>
          </a:xfrm>
          <a:prstGeom prst="roundRect">
            <a:avLst>
              <a:gd name="adj" fmla="val 17778"/>
            </a:avLst>
          </a:prstGeom>
          <a:solidFill>
            <a:srgbClr val="12284C"/>
          </a:solidFill>
          <a:ln w="12700">
            <a:solidFill>
              <a:srgbClr val="12284C"/>
            </a:solidFill>
            <a:prstDash val="solid"/>
          </a:ln>
        </p:spPr>
      </p:sp>
      <p:sp>
        <p:nvSpPr>
          <p:cNvPr id="8" name="Text 5"/>
          <p:cNvSpPr txBox="1"/>
          <p:nvPr/>
        </p:nvSpPr>
        <p:spPr>
          <a:xfrm>
            <a:off x="685800" y="4526280"/>
            <a:ext cx="7772400" cy="411480"/>
          </a:xfrm>
          <a:prstGeom prst="rect">
            <a:avLst/>
          </a:prstGeom>
          <a:noFill/>
          <a:ln/>
        </p:spPr>
        <p:txBody>
          <a:bodyPr wrap="square" lIns="0" tIns="0" rIns="0" bIns="0" rtlCol="0" anchor="ctr"/>
          <a:lstStyle/>
          <a:p>
            <a:pPr indent="0" marL="0">
              <a:buNone/>
            </a:pPr>
            <a:r>
              <a:rPr lang="en-US" sz="1200" b="1" dirty="0">
                <a:solidFill>
                  <a:srgbClr val="F28C28"/>
                </a:solidFill>
                <a:latin typeface="Calibri" pitchFamily="34" charset="0"/>
                <a:ea typeface="Calibri" pitchFamily="34" charset="-122"/>
                <a:cs typeface="Calibri" pitchFamily="34" charset="-120"/>
              </a:rPr>
              <a:t>INSIGHT  </a:t>
            </a:r>
            <a:pPr indent="0" marL="0">
              <a:buNone/>
            </a:pPr>
            <a:r>
              <a:rPr lang="en-US" sz="1200" dirty="0">
                <a:solidFill>
                  <a:srgbClr val="FFFFFF"/>
                </a:solidFill>
                <a:latin typeface="Calibri" pitchFamily="34" charset="0"/>
                <a:ea typeface="Calibri" pitchFamily="34" charset="-122"/>
                <a:cs typeface="Calibri" pitchFamily="34" charset="-120"/>
              </a:rPr>
              <a:t>BERT errors cluster in digestive and overlapping-symptom classes; TF-IDF errors are isolated single cases.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9AA7"/>
          </a:solidFill>
          <a:ln/>
        </p:spPr>
      </p:sp>
      <p:sp>
        <p:nvSpPr>
          <p:cNvPr id="3" name="Text 1"/>
          <p:cNvSpPr txBox="1"/>
          <p:nvPr/>
        </p:nvSpPr>
        <p:spPr>
          <a:xfrm>
            <a:off x="502920" y="274320"/>
            <a:ext cx="8138160" cy="548640"/>
          </a:xfrm>
          <a:prstGeom prst="rect">
            <a:avLst/>
          </a:prstGeom>
          <a:noFill/>
          <a:ln/>
        </p:spPr>
        <p:txBody>
          <a:bodyPr wrap="square" lIns="0" tIns="0" rIns="0" bIns="0" rtlCol="0" anchor="ctr"/>
          <a:lstStyle/>
          <a:p>
            <a:pPr indent="0" marL="0">
              <a:buNone/>
            </a:pPr>
            <a:r>
              <a:rPr lang="en-US" sz="2600" b="1" dirty="0">
                <a:solidFill>
                  <a:srgbClr val="12284C"/>
                </a:solidFill>
                <a:latin typeface="Calibri" pitchFamily="34" charset="0"/>
                <a:ea typeface="Calibri" pitchFamily="34" charset="-122"/>
                <a:cs typeface="Calibri" pitchFamily="34" charset="-120"/>
              </a:rPr>
              <a:t>Error Analysis: Where Models Fail</a:t>
            </a:r>
            <a:endParaRPr lang="en-US" sz="2600" dirty="0"/>
          </a:p>
        </p:txBody>
      </p:sp>
      <p:sp>
        <p:nvSpPr>
          <p:cNvPr id="4" name="Text 2"/>
          <p:cNvSpPr txBox="1"/>
          <p:nvPr/>
        </p:nvSpPr>
        <p:spPr>
          <a:xfrm>
            <a:off x="502920" y="804672"/>
            <a:ext cx="813816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Test set, 173 samples</a:t>
            </a:r>
            <a:endParaRPr lang="en-US" sz="1300" dirty="0"/>
          </a:p>
        </p:txBody>
      </p:sp>
      <p:graphicFrame>
        <p:nvGraphicFramePr>
          <p:cNvPr id="5" name="Chart 0" descr=""/>
          <p:cNvGraphicFramePr/>
          <p:nvPr/>
        </p:nvGraphicFramePr>
        <p:xfrm>
          <a:off x="502920" y="1188720"/>
          <a:ext cx="475488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486400" y="1280160"/>
            <a:ext cx="1508760" cy="1188720"/>
          </a:xfrm>
          <a:prstGeom prst="roundRect">
            <a:avLst>
              <a:gd name="adj" fmla="val 7692"/>
            </a:avLst>
          </a:prstGeom>
          <a:solidFill>
            <a:srgbClr val="F3F6FA"/>
          </a:solidFill>
          <a:ln w="12700">
            <a:solidFill>
              <a:srgbClr val="F3F6FA"/>
            </a:solidFill>
            <a:prstDash val="solid"/>
          </a:ln>
        </p:spPr>
      </p:sp>
      <p:sp>
        <p:nvSpPr>
          <p:cNvPr id="7" name="Text 4"/>
          <p:cNvSpPr txBox="1"/>
          <p:nvPr/>
        </p:nvSpPr>
        <p:spPr>
          <a:xfrm>
            <a:off x="5486400" y="1389888"/>
            <a:ext cx="1508760" cy="594360"/>
          </a:xfrm>
          <a:prstGeom prst="rect">
            <a:avLst/>
          </a:prstGeom>
          <a:noFill/>
          <a:ln/>
        </p:spPr>
        <p:txBody>
          <a:bodyPr wrap="square" lIns="0" tIns="0" rIns="0" bIns="0" rtlCol="0" anchor="ctr"/>
          <a:lstStyle/>
          <a:p>
            <a:pPr algn="ctr" indent="0" marL="0">
              <a:buNone/>
            </a:pPr>
            <a:r>
              <a:rPr lang="en-US" sz="2800" b="1" dirty="0">
                <a:solidFill>
                  <a:srgbClr val="F28C28"/>
                </a:solidFill>
                <a:latin typeface="Calibri" pitchFamily="34" charset="0"/>
                <a:ea typeface="Calibri" pitchFamily="34" charset="-122"/>
                <a:cs typeface="Calibri" pitchFamily="34" charset="-120"/>
              </a:rPr>
              <a:t>26</a:t>
            </a:r>
            <a:endParaRPr lang="en-US" sz="2800" dirty="0"/>
          </a:p>
        </p:txBody>
      </p:sp>
      <p:sp>
        <p:nvSpPr>
          <p:cNvPr id="8" name="Text 5"/>
          <p:cNvSpPr txBox="1"/>
          <p:nvPr/>
        </p:nvSpPr>
        <p:spPr>
          <a:xfrm>
            <a:off x="5577840" y="1969618"/>
            <a:ext cx="1325880" cy="451714"/>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BERT errors</a:t>
            </a:r>
            <a:endParaRPr lang="en-US" sz="1200" dirty="0"/>
          </a:p>
        </p:txBody>
      </p:sp>
      <p:sp>
        <p:nvSpPr>
          <p:cNvPr id="9" name="Shape 6"/>
          <p:cNvSpPr/>
          <p:nvPr/>
        </p:nvSpPr>
        <p:spPr>
          <a:xfrm>
            <a:off x="7132320" y="1280160"/>
            <a:ext cx="1508760" cy="1188720"/>
          </a:xfrm>
          <a:prstGeom prst="roundRect">
            <a:avLst>
              <a:gd name="adj" fmla="val 7692"/>
            </a:avLst>
          </a:prstGeom>
          <a:solidFill>
            <a:srgbClr val="F3F6FA"/>
          </a:solidFill>
          <a:ln w="12700">
            <a:solidFill>
              <a:srgbClr val="F3F6FA"/>
            </a:solidFill>
            <a:prstDash val="solid"/>
          </a:ln>
        </p:spPr>
      </p:sp>
      <p:sp>
        <p:nvSpPr>
          <p:cNvPr id="10" name="Text 7"/>
          <p:cNvSpPr txBox="1"/>
          <p:nvPr/>
        </p:nvSpPr>
        <p:spPr>
          <a:xfrm>
            <a:off x="7132320" y="1389888"/>
            <a:ext cx="1508760" cy="594360"/>
          </a:xfrm>
          <a:prstGeom prst="rect">
            <a:avLst/>
          </a:prstGeom>
          <a:noFill/>
          <a:ln/>
        </p:spPr>
        <p:txBody>
          <a:bodyPr wrap="square" lIns="0" tIns="0" rIns="0" bIns="0" rtlCol="0" anchor="ctr"/>
          <a:lstStyle/>
          <a:p>
            <a:pPr algn="ctr" indent="0" marL="0">
              <a:buNone/>
            </a:pPr>
            <a:r>
              <a:rPr lang="en-US" sz="2800" b="1" dirty="0">
                <a:solidFill>
                  <a:srgbClr val="0E9AA7"/>
                </a:solidFill>
                <a:latin typeface="Calibri" pitchFamily="34" charset="0"/>
                <a:ea typeface="Calibri" pitchFamily="34" charset="-122"/>
                <a:cs typeface="Calibri" pitchFamily="34" charset="-120"/>
              </a:rPr>
              <a:t>8</a:t>
            </a:r>
            <a:endParaRPr lang="en-US" sz="2800" dirty="0"/>
          </a:p>
        </p:txBody>
      </p:sp>
      <p:sp>
        <p:nvSpPr>
          <p:cNvPr id="11" name="Text 8"/>
          <p:cNvSpPr txBox="1"/>
          <p:nvPr/>
        </p:nvSpPr>
        <p:spPr>
          <a:xfrm>
            <a:off x="7223760" y="1969618"/>
            <a:ext cx="1325880" cy="451714"/>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TF-IDF errors</a:t>
            </a:r>
            <a:endParaRPr lang="en-US" sz="1200" dirty="0"/>
          </a:p>
        </p:txBody>
      </p:sp>
      <p:sp>
        <p:nvSpPr>
          <p:cNvPr id="12" name="Text 9"/>
          <p:cNvSpPr txBox="1"/>
          <p:nvPr/>
        </p:nvSpPr>
        <p:spPr>
          <a:xfrm>
            <a:off x="5486400" y="2697480"/>
            <a:ext cx="3154680" cy="1645920"/>
          </a:xfrm>
          <a:prstGeom prst="rect">
            <a:avLst/>
          </a:prstGeom>
          <a:noFill/>
          <a:ln/>
        </p:spPr>
        <p:txBody>
          <a:bodyPr wrap="square" rtlCol="0" anchor="t"/>
          <a:lstStyle/>
          <a:p>
            <a:pPr marL="342900" indent="-3429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BERT: diabetes recall only 0.29, its 5 errors spread over 5 classes</a:t>
            </a:r>
            <a:endParaRPr lang="en-US" sz="1200" dirty="0"/>
          </a:p>
          <a:p>
            <a:pPr marL="342900" indent="-3429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TF-IDF: 8 errors in 8 different pairs, no systematic confusion</a:t>
            </a:r>
            <a:endParaRPr lang="en-US" sz="1200" dirty="0"/>
          </a:p>
        </p:txBody>
      </p:sp>
      <p:sp>
        <p:nvSpPr>
          <p:cNvPr id="13" name="Shape 10"/>
          <p:cNvSpPr/>
          <p:nvPr/>
        </p:nvSpPr>
        <p:spPr>
          <a:xfrm>
            <a:off x="502920" y="4526280"/>
            <a:ext cx="8138160" cy="411480"/>
          </a:xfrm>
          <a:prstGeom prst="roundRect">
            <a:avLst>
              <a:gd name="adj" fmla="val 17778"/>
            </a:avLst>
          </a:prstGeom>
          <a:solidFill>
            <a:srgbClr val="12284C"/>
          </a:solidFill>
          <a:ln w="12700">
            <a:solidFill>
              <a:srgbClr val="12284C"/>
            </a:solidFill>
            <a:prstDash val="solid"/>
          </a:ln>
        </p:spPr>
      </p:sp>
      <p:sp>
        <p:nvSpPr>
          <p:cNvPr id="14" name="Text 11"/>
          <p:cNvSpPr txBox="1"/>
          <p:nvPr/>
        </p:nvSpPr>
        <p:spPr>
          <a:xfrm>
            <a:off x="685800" y="4526280"/>
            <a:ext cx="7772400" cy="411480"/>
          </a:xfrm>
          <a:prstGeom prst="rect">
            <a:avLst/>
          </a:prstGeom>
          <a:noFill/>
          <a:ln/>
        </p:spPr>
        <p:txBody>
          <a:bodyPr wrap="square" lIns="0" tIns="0" rIns="0" bIns="0" rtlCol="0" anchor="ctr"/>
          <a:lstStyle/>
          <a:p>
            <a:pPr indent="0" marL="0">
              <a:buNone/>
            </a:pPr>
            <a:r>
              <a:rPr lang="en-US" sz="1200" b="1" dirty="0">
                <a:solidFill>
                  <a:srgbClr val="F28C28"/>
                </a:solidFill>
                <a:latin typeface="Calibri" pitchFamily="34" charset="0"/>
                <a:ea typeface="Calibri" pitchFamily="34" charset="-122"/>
                <a:cs typeface="Calibri" pitchFamily="34" charset="-120"/>
              </a:rPr>
              <a:t>INSIGHT  </a:t>
            </a:r>
            <a:pPr indent="0" marL="0">
              <a:buNone/>
            </a:pPr>
            <a:r>
              <a:rPr lang="en-US" sz="1200" dirty="0">
                <a:solidFill>
                  <a:srgbClr val="FFFFFF"/>
                </a:solidFill>
                <a:latin typeface="Calibri" pitchFamily="34" charset="0"/>
                <a:ea typeface="Calibri" pitchFamily="34" charset="-122"/>
                <a:cs typeface="Calibri" pitchFamily="34" charset="-120"/>
              </a:rPr>
              <a:t>Frozen embeddings blur diseases that share symptoms such as stomach pain; word cues separate them.</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9AA7"/>
          </a:solidFill>
          <a:ln/>
        </p:spPr>
      </p:sp>
      <p:sp>
        <p:nvSpPr>
          <p:cNvPr id="3" name="Text 1"/>
          <p:cNvSpPr txBox="1"/>
          <p:nvPr/>
        </p:nvSpPr>
        <p:spPr>
          <a:xfrm>
            <a:off x="502920" y="274320"/>
            <a:ext cx="8138160" cy="548640"/>
          </a:xfrm>
          <a:prstGeom prst="rect">
            <a:avLst/>
          </a:prstGeom>
          <a:noFill/>
          <a:ln/>
        </p:spPr>
        <p:txBody>
          <a:bodyPr wrap="square" lIns="0" tIns="0" rIns="0" bIns="0" rtlCol="0" anchor="ctr"/>
          <a:lstStyle/>
          <a:p>
            <a:pPr indent="0" marL="0">
              <a:buNone/>
            </a:pPr>
            <a:r>
              <a:rPr lang="en-US" sz="2600" b="1" dirty="0">
                <a:solidFill>
                  <a:srgbClr val="12284C"/>
                </a:solidFill>
                <a:latin typeface="Calibri" pitchFamily="34" charset="0"/>
                <a:ea typeface="Calibri" pitchFamily="34" charset="-122"/>
                <a:cs typeface="Calibri" pitchFamily="34" charset="-120"/>
              </a:rPr>
              <a:t>What TF-IDF + LR Learned</a:t>
            </a:r>
            <a:endParaRPr lang="en-US" sz="2600" dirty="0"/>
          </a:p>
        </p:txBody>
      </p:sp>
      <p:sp>
        <p:nvSpPr>
          <p:cNvPr id="4" name="Text 2"/>
          <p:cNvSpPr txBox="1"/>
          <p:nvPr/>
        </p:nvSpPr>
        <p:spPr>
          <a:xfrm>
            <a:off x="502920" y="804672"/>
            <a:ext cx="813816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Top-weighted terms per class (7,847 features)</a:t>
            </a:r>
            <a:endParaRPr lang="en-US" sz="1300" dirty="0"/>
          </a:p>
        </p:txBody>
      </p:sp>
      <p:sp>
        <p:nvSpPr>
          <p:cNvPr id="5" name="Shape 3"/>
          <p:cNvSpPr/>
          <p:nvPr/>
        </p:nvSpPr>
        <p:spPr>
          <a:xfrm>
            <a:off x="502920" y="1280160"/>
            <a:ext cx="2560320" cy="1371600"/>
          </a:xfrm>
          <a:prstGeom prst="roundRect">
            <a:avLst>
              <a:gd name="adj" fmla="val 6667"/>
            </a:avLst>
          </a:prstGeom>
          <a:solidFill>
            <a:srgbClr val="F3F6FA"/>
          </a:solidFill>
          <a:ln w="12700">
            <a:solidFill>
              <a:srgbClr val="F3F6FA"/>
            </a:solidFill>
            <a:prstDash val="solid"/>
          </a:ln>
        </p:spPr>
      </p:sp>
      <p:sp>
        <p:nvSpPr>
          <p:cNvPr id="6" name="Shape 4"/>
          <p:cNvSpPr/>
          <p:nvPr/>
        </p:nvSpPr>
        <p:spPr>
          <a:xfrm>
            <a:off x="502920" y="1280160"/>
            <a:ext cx="2560320" cy="73152"/>
          </a:xfrm>
          <a:prstGeom prst="rect">
            <a:avLst/>
          </a:prstGeom>
          <a:solidFill>
            <a:srgbClr val="12284C"/>
          </a:solidFill>
          <a:ln/>
        </p:spPr>
      </p:sp>
      <p:sp>
        <p:nvSpPr>
          <p:cNvPr id="7" name="Text 5"/>
          <p:cNvSpPr txBox="1"/>
          <p:nvPr/>
        </p:nvSpPr>
        <p:spPr>
          <a:xfrm>
            <a:off x="685800" y="1463040"/>
            <a:ext cx="2194560" cy="365760"/>
          </a:xfrm>
          <a:prstGeom prst="rect">
            <a:avLst/>
          </a:prstGeom>
          <a:noFill/>
          <a:ln/>
        </p:spPr>
        <p:txBody>
          <a:bodyPr wrap="square" lIns="0" tIns="0" rIns="0" bIns="0" rtlCol="0" anchor="ctr"/>
          <a:lstStyle/>
          <a:p>
            <a:pPr indent="0" marL="0">
              <a:buNone/>
            </a:pPr>
            <a:r>
              <a:rPr lang="en-US" sz="1700" b="1" dirty="0">
                <a:solidFill>
                  <a:srgbClr val="12284C"/>
                </a:solidFill>
                <a:latin typeface="Calibri" pitchFamily="34" charset="0"/>
                <a:ea typeface="Calibri" pitchFamily="34" charset="-122"/>
                <a:cs typeface="Calibri" pitchFamily="34" charset="-120"/>
              </a:rPr>
              <a:t>Acne</a:t>
            </a:r>
            <a:endParaRPr lang="en-US" sz="1700" dirty="0"/>
          </a:p>
        </p:txBody>
      </p:sp>
      <p:sp>
        <p:nvSpPr>
          <p:cNvPr id="8" name="Text 6"/>
          <p:cNvSpPr txBox="1"/>
          <p:nvPr/>
        </p:nvSpPr>
        <p:spPr>
          <a:xfrm>
            <a:off x="685800" y="1874520"/>
            <a:ext cx="2194560" cy="6858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blackheads, pus, pimples, filled</a:t>
            </a:r>
            <a:endParaRPr lang="en-US" sz="1300" dirty="0"/>
          </a:p>
        </p:txBody>
      </p:sp>
      <p:sp>
        <p:nvSpPr>
          <p:cNvPr id="9" name="Shape 7"/>
          <p:cNvSpPr/>
          <p:nvPr/>
        </p:nvSpPr>
        <p:spPr>
          <a:xfrm>
            <a:off x="3246120" y="1280160"/>
            <a:ext cx="2560320" cy="1371600"/>
          </a:xfrm>
          <a:prstGeom prst="roundRect">
            <a:avLst>
              <a:gd name="adj" fmla="val 6667"/>
            </a:avLst>
          </a:prstGeom>
          <a:solidFill>
            <a:srgbClr val="F3F6FA"/>
          </a:solidFill>
          <a:ln w="12700">
            <a:solidFill>
              <a:srgbClr val="F3F6FA"/>
            </a:solidFill>
            <a:prstDash val="solid"/>
          </a:ln>
        </p:spPr>
      </p:sp>
      <p:sp>
        <p:nvSpPr>
          <p:cNvPr id="10" name="Shape 8"/>
          <p:cNvSpPr/>
          <p:nvPr/>
        </p:nvSpPr>
        <p:spPr>
          <a:xfrm>
            <a:off x="3246120" y="1280160"/>
            <a:ext cx="2560320" cy="73152"/>
          </a:xfrm>
          <a:prstGeom prst="rect">
            <a:avLst/>
          </a:prstGeom>
          <a:solidFill>
            <a:srgbClr val="0E9AA7"/>
          </a:solidFill>
          <a:ln/>
        </p:spPr>
      </p:sp>
      <p:sp>
        <p:nvSpPr>
          <p:cNvPr id="11" name="Text 9"/>
          <p:cNvSpPr txBox="1"/>
          <p:nvPr/>
        </p:nvSpPr>
        <p:spPr>
          <a:xfrm>
            <a:off x="3429000" y="1463040"/>
            <a:ext cx="2194560" cy="365760"/>
          </a:xfrm>
          <a:prstGeom prst="rect">
            <a:avLst/>
          </a:prstGeom>
          <a:noFill/>
          <a:ln/>
        </p:spPr>
        <p:txBody>
          <a:bodyPr wrap="square" lIns="0" tIns="0" rIns="0" bIns="0" rtlCol="0" anchor="ctr"/>
          <a:lstStyle/>
          <a:p>
            <a:pPr indent="0" marL="0">
              <a:buNone/>
            </a:pPr>
            <a:r>
              <a:rPr lang="en-US" sz="1700" b="1" dirty="0">
                <a:solidFill>
                  <a:srgbClr val="12284C"/>
                </a:solidFill>
                <a:latin typeface="Calibri" pitchFamily="34" charset="0"/>
                <a:ea typeface="Calibri" pitchFamily="34" charset="-122"/>
                <a:cs typeface="Calibri" pitchFamily="34" charset="-120"/>
              </a:rPr>
              <a:t>Psoriasis</a:t>
            </a:r>
            <a:endParaRPr lang="en-US" sz="1700" dirty="0"/>
          </a:p>
        </p:txBody>
      </p:sp>
      <p:sp>
        <p:nvSpPr>
          <p:cNvPr id="12" name="Text 10"/>
          <p:cNvSpPr txBox="1"/>
          <p:nvPr/>
        </p:nvSpPr>
        <p:spPr>
          <a:xfrm>
            <a:off x="3429000" y="1874520"/>
            <a:ext cx="2194560" cy="6858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nails, knees, elbows, joints</a:t>
            </a:r>
            <a:endParaRPr lang="en-US" sz="1300" dirty="0"/>
          </a:p>
        </p:txBody>
      </p:sp>
      <p:sp>
        <p:nvSpPr>
          <p:cNvPr id="13" name="Shape 11"/>
          <p:cNvSpPr/>
          <p:nvPr/>
        </p:nvSpPr>
        <p:spPr>
          <a:xfrm>
            <a:off x="5989320" y="1280160"/>
            <a:ext cx="2560320" cy="1371600"/>
          </a:xfrm>
          <a:prstGeom prst="roundRect">
            <a:avLst>
              <a:gd name="adj" fmla="val 6667"/>
            </a:avLst>
          </a:prstGeom>
          <a:solidFill>
            <a:srgbClr val="F3F6FA"/>
          </a:solidFill>
          <a:ln w="12700">
            <a:solidFill>
              <a:srgbClr val="F3F6FA"/>
            </a:solidFill>
            <a:prstDash val="solid"/>
          </a:ln>
        </p:spPr>
      </p:sp>
      <p:sp>
        <p:nvSpPr>
          <p:cNvPr id="14" name="Shape 12"/>
          <p:cNvSpPr/>
          <p:nvPr/>
        </p:nvSpPr>
        <p:spPr>
          <a:xfrm>
            <a:off x="5989320" y="1280160"/>
            <a:ext cx="2560320" cy="73152"/>
          </a:xfrm>
          <a:prstGeom prst="rect">
            <a:avLst/>
          </a:prstGeom>
          <a:solidFill>
            <a:srgbClr val="12284C"/>
          </a:solidFill>
          <a:ln/>
        </p:spPr>
      </p:sp>
      <p:sp>
        <p:nvSpPr>
          <p:cNvPr id="15" name="Text 13"/>
          <p:cNvSpPr txBox="1"/>
          <p:nvPr/>
        </p:nvSpPr>
        <p:spPr>
          <a:xfrm>
            <a:off x="6172200" y="1463040"/>
            <a:ext cx="2194560" cy="365760"/>
          </a:xfrm>
          <a:prstGeom prst="rect">
            <a:avLst/>
          </a:prstGeom>
          <a:noFill/>
          <a:ln/>
        </p:spPr>
        <p:txBody>
          <a:bodyPr wrap="square" lIns="0" tIns="0" rIns="0" bIns="0" rtlCol="0" anchor="ctr"/>
          <a:lstStyle/>
          <a:p>
            <a:pPr indent="0" marL="0">
              <a:buNone/>
            </a:pPr>
            <a:r>
              <a:rPr lang="en-US" sz="1700" b="1" dirty="0">
                <a:solidFill>
                  <a:srgbClr val="12284C"/>
                </a:solidFill>
                <a:latin typeface="Calibri" pitchFamily="34" charset="0"/>
                <a:ea typeface="Calibri" pitchFamily="34" charset="-122"/>
                <a:cs typeface="Calibri" pitchFamily="34" charset="-120"/>
              </a:rPr>
              <a:t>Migraine</a:t>
            </a:r>
            <a:endParaRPr lang="en-US" sz="1700" dirty="0"/>
          </a:p>
        </p:txBody>
      </p:sp>
      <p:sp>
        <p:nvSpPr>
          <p:cNvPr id="16" name="Text 14"/>
          <p:cNvSpPr txBox="1"/>
          <p:nvPr/>
        </p:nvSpPr>
        <p:spPr>
          <a:xfrm>
            <a:off x="6172200" y="1874520"/>
            <a:ext cx="2194560" cy="6858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vision, visual, headaches, acid</a:t>
            </a:r>
            <a:endParaRPr lang="en-US" sz="1300" dirty="0"/>
          </a:p>
        </p:txBody>
      </p:sp>
      <p:sp>
        <p:nvSpPr>
          <p:cNvPr id="17" name="Shape 15"/>
          <p:cNvSpPr/>
          <p:nvPr/>
        </p:nvSpPr>
        <p:spPr>
          <a:xfrm>
            <a:off x="502920" y="2834640"/>
            <a:ext cx="2560320" cy="1371600"/>
          </a:xfrm>
          <a:prstGeom prst="roundRect">
            <a:avLst>
              <a:gd name="adj" fmla="val 6667"/>
            </a:avLst>
          </a:prstGeom>
          <a:solidFill>
            <a:srgbClr val="F3F6FA"/>
          </a:solidFill>
          <a:ln w="12700">
            <a:solidFill>
              <a:srgbClr val="F3F6FA"/>
            </a:solidFill>
            <a:prstDash val="solid"/>
          </a:ln>
        </p:spPr>
      </p:sp>
      <p:sp>
        <p:nvSpPr>
          <p:cNvPr id="18" name="Shape 16"/>
          <p:cNvSpPr/>
          <p:nvPr/>
        </p:nvSpPr>
        <p:spPr>
          <a:xfrm>
            <a:off x="502920" y="2834640"/>
            <a:ext cx="2560320" cy="73152"/>
          </a:xfrm>
          <a:prstGeom prst="rect">
            <a:avLst/>
          </a:prstGeom>
          <a:solidFill>
            <a:srgbClr val="0E9AA7"/>
          </a:solidFill>
          <a:ln/>
        </p:spPr>
      </p:sp>
      <p:sp>
        <p:nvSpPr>
          <p:cNvPr id="19" name="Text 17"/>
          <p:cNvSpPr txBox="1"/>
          <p:nvPr/>
        </p:nvSpPr>
        <p:spPr>
          <a:xfrm>
            <a:off x="685800" y="3017520"/>
            <a:ext cx="2194560" cy="365760"/>
          </a:xfrm>
          <a:prstGeom prst="rect">
            <a:avLst/>
          </a:prstGeom>
          <a:noFill/>
          <a:ln/>
        </p:spPr>
        <p:txBody>
          <a:bodyPr wrap="square" lIns="0" tIns="0" rIns="0" bIns="0" rtlCol="0" anchor="ctr"/>
          <a:lstStyle/>
          <a:p>
            <a:pPr indent="0" marL="0">
              <a:buNone/>
            </a:pPr>
            <a:r>
              <a:rPr lang="en-US" sz="1700" b="1" dirty="0">
                <a:solidFill>
                  <a:srgbClr val="12284C"/>
                </a:solidFill>
                <a:latin typeface="Calibri" pitchFamily="34" charset="0"/>
                <a:ea typeface="Calibri" pitchFamily="34" charset="-122"/>
                <a:cs typeface="Calibri" pitchFamily="34" charset="-120"/>
              </a:rPr>
              <a:t>Diabetes</a:t>
            </a:r>
            <a:endParaRPr lang="en-US" sz="1700" dirty="0"/>
          </a:p>
        </p:txBody>
      </p:sp>
      <p:sp>
        <p:nvSpPr>
          <p:cNvPr id="20" name="Text 18"/>
          <p:cNvSpPr txBox="1"/>
          <p:nvPr/>
        </p:nvSpPr>
        <p:spPr>
          <a:xfrm>
            <a:off x="685800" y="3429000"/>
            <a:ext cx="2194560" cy="6858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infections, palpitations, dry, healing</a:t>
            </a:r>
            <a:endParaRPr lang="en-US" sz="1300" dirty="0"/>
          </a:p>
        </p:txBody>
      </p:sp>
      <p:sp>
        <p:nvSpPr>
          <p:cNvPr id="21" name="Shape 19"/>
          <p:cNvSpPr/>
          <p:nvPr/>
        </p:nvSpPr>
        <p:spPr>
          <a:xfrm>
            <a:off x="3246120" y="2834640"/>
            <a:ext cx="2560320" cy="1371600"/>
          </a:xfrm>
          <a:prstGeom prst="roundRect">
            <a:avLst>
              <a:gd name="adj" fmla="val 6667"/>
            </a:avLst>
          </a:prstGeom>
          <a:solidFill>
            <a:srgbClr val="F3F6FA"/>
          </a:solidFill>
          <a:ln w="12700">
            <a:solidFill>
              <a:srgbClr val="F3F6FA"/>
            </a:solidFill>
            <a:prstDash val="solid"/>
          </a:ln>
        </p:spPr>
      </p:sp>
      <p:sp>
        <p:nvSpPr>
          <p:cNvPr id="22" name="Shape 20"/>
          <p:cNvSpPr/>
          <p:nvPr/>
        </p:nvSpPr>
        <p:spPr>
          <a:xfrm>
            <a:off x="3246120" y="2834640"/>
            <a:ext cx="2560320" cy="73152"/>
          </a:xfrm>
          <a:prstGeom prst="rect">
            <a:avLst/>
          </a:prstGeom>
          <a:solidFill>
            <a:srgbClr val="12284C"/>
          </a:solidFill>
          <a:ln/>
        </p:spPr>
      </p:sp>
      <p:sp>
        <p:nvSpPr>
          <p:cNvPr id="23" name="Text 21"/>
          <p:cNvSpPr txBox="1"/>
          <p:nvPr/>
        </p:nvSpPr>
        <p:spPr>
          <a:xfrm>
            <a:off x="3429000" y="3017520"/>
            <a:ext cx="2194560" cy="365760"/>
          </a:xfrm>
          <a:prstGeom prst="rect">
            <a:avLst/>
          </a:prstGeom>
          <a:noFill/>
          <a:ln/>
        </p:spPr>
        <p:txBody>
          <a:bodyPr wrap="square" lIns="0" tIns="0" rIns="0" bIns="0" rtlCol="0" anchor="ctr"/>
          <a:lstStyle/>
          <a:p>
            <a:pPr indent="0" marL="0">
              <a:buNone/>
            </a:pPr>
            <a:r>
              <a:rPr lang="en-US" sz="1700" b="1" dirty="0">
                <a:solidFill>
                  <a:srgbClr val="12284C"/>
                </a:solidFill>
                <a:latin typeface="Calibri" pitchFamily="34" charset="0"/>
                <a:ea typeface="Calibri" pitchFamily="34" charset="-122"/>
                <a:cs typeface="Calibri" pitchFamily="34" charset="-120"/>
              </a:rPr>
              <a:t>Peptic ulcer</a:t>
            </a:r>
            <a:endParaRPr lang="en-US" sz="1700" dirty="0"/>
          </a:p>
        </p:txBody>
      </p:sp>
      <p:sp>
        <p:nvSpPr>
          <p:cNvPr id="24" name="Text 22"/>
          <p:cNvSpPr txBox="1"/>
          <p:nvPr/>
        </p:nvSpPr>
        <p:spPr>
          <a:xfrm>
            <a:off x="3429000" y="3429000"/>
            <a:ext cx="2194560" cy="6858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stools, upper abdomen, lose</a:t>
            </a:r>
            <a:endParaRPr lang="en-US" sz="1300" dirty="0"/>
          </a:p>
        </p:txBody>
      </p:sp>
      <p:sp>
        <p:nvSpPr>
          <p:cNvPr id="25" name="Shape 23"/>
          <p:cNvSpPr/>
          <p:nvPr/>
        </p:nvSpPr>
        <p:spPr>
          <a:xfrm>
            <a:off x="5989320" y="2834640"/>
            <a:ext cx="2560320" cy="1371600"/>
          </a:xfrm>
          <a:prstGeom prst="roundRect">
            <a:avLst>
              <a:gd name="adj" fmla="val 6667"/>
            </a:avLst>
          </a:prstGeom>
          <a:solidFill>
            <a:srgbClr val="F3F6FA"/>
          </a:solidFill>
          <a:ln w="12700">
            <a:solidFill>
              <a:srgbClr val="F3F6FA"/>
            </a:solidFill>
            <a:prstDash val="solid"/>
          </a:ln>
        </p:spPr>
      </p:sp>
      <p:sp>
        <p:nvSpPr>
          <p:cNvPr id="26" name="Shape 24"/>
          <p:cNvSpPr/>
          <p:nvPr/>
        </p:nvSpPr>
        <p:spPr>
          <a:xfrm>
            <a:off x="5989320" y="2834640"/>
            <a:ext cx="2560320" cy="73152"/>
          </a:xfrm>
          <a:prstGeom prst="rect">
            <a:avLst/>
          </a:prstGeom>
          <a:solidFill>
            <a:srgbClr val="0E9AA7"/>
          </a:solidFill>
          <a:ln/>
        </p:spPr>
      </p:sp>
      <p:sp>
        <p:nvSpPr>
          <p:cNvPr id="27" name="Text 25"/>
          <p:cNvSpPr txBox="1"/>
          <p:nvPr/>
        </p:nvSpPr>
        <p:spPr>
          <a:xfrm>
            <a:off x="6172200" y="3017520"/>
            <a:ext cx="2194560" cy="365760"/>
          </a:xfrm>
          <a:prstGeom prst="rect">
            <a:avLst/>
          </a:prstGeom>
          <a:noFill/>
          <a:ln/>
        </p:spPr>
        <p:txBody>
          <a:bodyPr wrap="square" lIns="0" tIns="0" rIns="0" bIns="0" rtlCol="0" anchor="ctr"/>
          <a:lstStyle/>
          <a:p>
            <a:pPr indent="0" marL="0">
              <a:buNone/>
            </a:pPr>
            <a:r>
              <a:rPr lang="en-US" sz="1700" b="1" dirty="0">
                <a:solidFill>
                  <a:srgbClr val="12284C"/>
                </a:solidFill>
                <a:latin typeface="Calibri" pitchFamily="34" charset="0"/>
                <a:ea typeface="Calibri" pitchFamily="34" charset="-122"/>
                <a:cs typeface="Calibri" pitchFamily="34" charset="-120"/>
              </a:rPr>
              <a:t>Dengue</a:t>
            </a:r>
            <a:endParaRPr lang="en-US" sz="1700" dirty="0"/>
          </a:p>
        </p:txBody>
      </p:sp>
      <p:sp>
        <p:nvSpPr>
          <p:cNvPr id="28" name="Text 26"/>
          <p:cNvSpPr txBox="1"/>
          <p:nvPr/>
        </p:nvSpPr>
        <p:spPr>
          <a:xfrm>
            <a:off x="6172200" y="3429000"/>
            <a:ext cx="2194560" cy="6858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red spots, back pain, body</a:t>
            </a:r>
            <a:endParaRPr lang="en-US" sz="1300" dirty="0"/>
          </a:p>
        </p:txBody>
      </p:sp>
      <p:sp>
        <p:nvSpPr>
          <p:cNvPr id="29" name="Shape 27"/>
          <p:cNvSpPr/>
          <p:nvPr/>
        </p:nvSpPr>
        <p:spPr>
          <a:xfrm>
            <a:off x="502920" y="4526280"/>
            <a:ext cx="8138160" cy="411480"/>
          </a:xfrm>
          <a:prstGeom prst="roundRect">
            <a:avLst>
              <a:gd name="adj" fmla="val 17778"/>
            </a:avLst>
          </a:prstGeom>
          <a:solidFill>
            <a:srgbClr val="12284C"/>
          </a:solidFill>
          <a:ln w="12700">
            <a:solidFill>
              <a:srgbClr val="12284C"/>
            </a:solidFill>
            <a:prstDash val="solid"/>
          </a:ln>
        </p:spPr>
      </p:sp>
      <p:sp>
        <p:nvSpPr>
          <p:cNvPr id="30" name="Text 28"/>
          <p:cNvSpPr txBox="1"/>
          <p:nvPr/>
        </p:nvSpPr>
        <p:spPr>
          <a:xfrm>
            <a:off x="685800" y="4526280"/>
            <a:ext cx="7772400" cy="411480"/>
          </a:xfrm>
          <a:prstGeom prst="rect">
            <a:avLst/>
          </a:prstGeom>
          <a:noFill/>
          <a:ln/>
        </p:spPr>
        <p:txBody>
          <a:bodyPr wrap="square" lIns="0" tIns="0" rIns="0" bIns="0" rtlCol="0" anchor="ctr"/>
          <a:lstStyle/>
          <a:p>
            <a:pPr indent="0" marL="0">
              <a:buNone/>
            </a:pPr>
            <a:r>
              <a:rPr lang="en-US" sz="1200" b="1" dirty="0">
                <a:solidFill>
                  <a:srgbClr val="F28C28"/>
                </a:solidFill>
                <a:latin typeface="Calibri" pitchFamily="34" charset="0"/>
                <a:ea typeface="Calibri" pitchFamily="34" charset="-122"/>
                <a:cs typeface="Calibri" pitchFamily="34" charset="-120"/>
              </a:rPr>
              <a:t>INSIGHT  </a:t>
            </a:r>
            <a:pPr indent="0" marL="0">
              <a:buNone/>
            </a:pPr>
            <a:r>
              <a:rPr lang="en-US" sz="1200" dirty="0">
                <a:solidFill>
                  <a:srgbClr val="FFFFFF"/>
                </a:solidFill>
                <a:latin typeface="Calibri" pitchFamily="34" charset="0"/>
                <a:ea typeface="Calibri" pitchFamily="34" charset="-122"/>
                <a:cs typeface="Calibri" pitchFamily="34" charset="-120"/>
              </a:rPr>
              <a:t>Weights are medically sensible, so the baseline is explainable as well as accurate.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9AA7"/>
          </a:solidFill>
          <a:ln/>
        </p:spPr>
      </p:sp>
      <p:sp>
        <p:nvSpPr>
          <p:cNvPr id="3" name="Text 1"/>
          <p:cNvSpPr txBox="1"/>
          <p:nvPr/>
        </p:nvSpPr>
        <p:spPr>
          <a:xfrm>
            <a:off x="502920" y="274320"/>
            <a:ext cx="8138160" cy="548640"/>
          </a:xfrm>
          <a:prstGeom prst="rect">
            <a:avLst/>
          </a:prstGeom>
          <a:noFill/>
          <a:ln/>
        </p:spPr>
        <p:txBody>
          <a:bodyPr wrap="square" lIns="0" tIns="0" rIns="0" bIns="0" rtlCol="0" anchor="ctr"/>
          <a:lstStyle/>
          <a:p>
            <a:pPr indent="0" marL="0">
              <a:buNone/>
            </a:pPr>
            <a:r>
              <a:rPr lang="en-US" sz="2600" b="1" dirty="0">
                <a:solidFill>
                  <a:srgbClr val="12284C"/>
                </a:solidFill>
                <a:latin typeface="Calibri" pitchFamily="34" charset="0"/>
                <a:ea typeface="Calibri" pitchFamily="34" charset="-122"/>
                <a:cs typeface="Calibri" pitchFamily="34" charset="-120"/>
              </a:rPr>
              <a:t>Inference: Custom Symptom Prediction</a:t>
            </a:r>
            <a:endParaRPr lang="en-US" sz="2600" dirty="0"/>
          </a:p>
        </p:txBody>
      </p:sp>
      <p:sp>
        <p:nvSpPr>
          <p:cNvPr id="4" name="Shape 2"/>
          <p:cNvSpPr/>
          <p:nvPr/>
        </p:nvSpPr>
        <p:spPr>
          <a:xfrm>
            <a:off x="502920" y="1097280"/>
            <a:ext cx="8138160" cy="1097280"/>
          </a:xfrm>
          <a:prstGeom prst="roundRect">
            <a:avLst>
              <a:gd name="adj" fmla="val 8333"/>
            </a:avLst>
          </a:prstGeom>
          <a:solidFill>
            <a:srgbClr val="F3F6FA"/>
          </a:solidFill>
          <a:ln w="12700">
            <a:solidFill>
              <a:srgbClr val="F3F6FA"/>
            </a:solidFill>
            <a:prstDash val="solid"/>
          </a:ln>
        </p:spPr>
      </p:sp>
      <p:sp>
        <p:nvSpPr>
          <p:cNvPr id="5" name="Text 3"/>
          <p:cNvSpPr txBox="1"/>
          <p:nvPr/>
        </p:nvSpPr>
        <p:spPr>
          <a:xfrm>
            <a:off x="731520" y="1097280"/>
            <a:ext cx="7680960" cy="1097280"/>
          </a:xfrm>
          <a:prstGeom prst="rect">
            <a:avLst/>
          </a:prstGeom>
          <a:noFill/>
          <a:ln/>
        </p:spPr>
        <p:txBody>
          <a:bodyPr wrap="square" lIns="0" tIns="0" rIns="0" bIns="0" rtlCol="0" anchor="ctr"/>
          <a:lstStyle/>
          <a:p>
            <a:pPr indent="0" marL="0">
              <a:buNone/>
            </a:pPr>
            <a:r>
              <a:rPr lang="en-US" sz="1500" i="1" dirty="0">
                <a:solidFill>
                  <a:srgbClr val="1F2937"/>
                </a:solidFill>
                <a:latin typeface="Calibri" pitchFamily="34" charset="0"/>
                <a:ea typeface="Calibri" pitchFamily="34" charset="-122"/>
                <a:cs typeface="Calibri" pitchFamily="34" charset="-120"/>
              </a:rPr>
              <a:t>Input: "I've been experiencing stiffness in my neck and my joints have swollen. I've also been experiencing pain when I walk."</a:t>
            </a:r>
            <a:endParaRPr lang="en-US" sz="1500" dirty="0"/>
          </a:p>
        </p:txBody>
      </p:sp>
      <p:sp>
        <p:nvSpPr>
          <p:cNvPr id="6" name="Shape 4"/>
          <p:cNvSpPr/>
          <p:nvPr/>
        </p:nvSpPr>
        <p:spPr>
          <a:xfrm>
            <a:off x="502920" y="2468880"/>
            <a:ext cx="3931920" cy="1280160"/>
          </a:xfrm>
          <a:prstGeom prst="roundRect">
            <a:avLst>
              <a:gd name="adj" fmla="val 7143"/>
            </a:avLst>
          </a:prstGeom>
          <a:solidFill>
            <a:srgbClr val="F3F6FA"/>
          </a:solidFill>
          <a:ln w="12700">
            <a:solidFill>
              <a:srgbClr val="F3F6FA"/>
            </a:solidFill>
            <a:prstDash val="solid"/>
          </a:ln>
        </p:spPr>
      </p:sp>
      <p:sp>
        <p:nvSpPr>
          <p:cNvPr id="7" name="Text 5"/>
          <p:cNvSpPr txBox="1"/>
          <p:nvPr/>
        </p:nvSpPr>
        <p:spPr>
          <a:xfrm>
            <a:off x="502920" y="2578608"/>
            <a:ext cx="3931920" cy="640080"/>
          </a:xfrm>
          <a:prstGeom prst="rect">
            <a:avLst/>
          </a:prstGeom>
          <a:noFill/>
          <a:ln/>
        </p:spPr>
        <p:txBody>
          <a:bodyPr wrap="square" lIns="0" tIns="0" rIns="0" bIns="0" rtlCol="0" anchor="ctr"/>
          <a:lstStyle/>
          <a:p>
            <a:pPr algn="ctr" indent="0" marL="0">
              <a:buNone/>
            </a:pPr>
            <a:r>
              <a:rPr lang="en-US" sz="2800" b="1" dirty="0">
                <a:solidFill>
                  <a:srgbClr val="0E9AA7"/>
                </a:solidFill>
                <a:latin typeface="Calibri" pitchFamily="34" charset="0"/>
                <a:ea typeface="Calibri" pitchFamily="34" charset="-122"/>
                <a:cs typeface="Calibri" pitchFamily="34" charset="-120"/>
              </a:rPr>
              <a:t>Arthritis</a:t>
            </a:r>
            <a:endParaRPr lang="en-US" sz="2800" dirty="0"/>
          </a:p>
        </p:txBody>
      </p:sp>
      <p:sp>
        <p:nvSpPr>
          <p:cNvPr id="8" name="Text 6"/>
          <p:cNvSpPr txBox="1"/>
          <p:nvPr/>
        </p:nvSpPr>
        <p:spPr>
          <a:xfrm>
            <a:off x="594360" y="3211373"/>
            <a:ext cx="3749040" cy="486461"/>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predicted disease (BERT model)</a:t>
            </a:r>
            <a:endParaRPr lang="en-US" sz="1200" dirty="0"/>
          </a:p>
        </p:txBody>
      </p:sp>
      <p:sp>
        <p:nvSpPr>
          <p:cNvPr id="9" name="Shape 7"/>
          <p:cNvSpPr/>
          <p:nvPr/>
        </p:nvSpPr>
        <p:spPr>
          <a:xfrm>
            <a:off x="4709160" y="2468880"/>
            <a:ext cx="3931920" cy="1280160"/>
          </a:xfrm>
          <a:prstGeom prst="roundRect">
            <a:avLst>
              <a:gd name="adj" fmla="val 7143"/>
            </a:avLst>
          </a:prstGeom>
          <a:solidFill>
            <a:srgbClr val="F3F6FA"/>
          </a:solidFill>
          <a:ln w="12700">
            <a:solidFill>
              <a:srgbClr val="F3F6FA"/>
            </a:solidFill>
            <a:prstDash val="solid"/>
          </a:ln>
        </p:spPr>
      </p:sp>
      <p:sp>
        <p:nvSpPr>
          <p:cNvPr id="10" name="Text 8"/>
          <p:cNvSpPr txBox="1"/>
          <p:nvPr/>
        </p:nvSpPr>
        <p:spPr>
          <a:xfrm>
            <a:off x="4709160" y="2578608"/>
            <a:ext cx="3931920" cy="640080"/>
          </a:xfrm>
          <a:prstGeom prst="rect">
            <a:avLst/>
          </a:prstGeom>
          <a:noFill/>
          <a:ln/>
        </p:spPr>
        <p:txBody>
          <a:bodyPr wrap="square" lIns="0" tIns="0" rIns="0" bIns="0" rtlCol="0" anchor="ctr"/>
          <a:lstStyle/>
          <a:p>
            <a:pPr algn="ctr" indent="0" marL="0">
              <a:buNone/>
            </a:pPr>
            <a:r>
              <a:rPr lang="en-US" sz="2800" b="1" dirty="0">
                <a:solidFill>
                  <a:srgbClr val="F28C28"/>
                </a:solidFill>
                <a:latin typeface="Calibri" pitchFamily="34" charset="0"/>
                <a:ea typeface="Calibri" pitchFamily="34" charset="-122"/>
                <a:cs typeface="Calibri" pitchFamily="34" charset="-120"/>
              </a:rPr>
              <a:t>81.45%</a:t>
            </a:r>
            <a:endParaRPr lang="en-US" sz="2800" dirty="0"/>
          </a:p>
        </p:txBody>
      </p:sp>
      <p:sp>
        <p:nvSpPr>
          <p:cNvPr id="11" name="Text 9"/>
          <p:cNvSpPr txBox="1"/>
          <p:nvPr/>
        </p:nvSpPr>
        <p:spPr>
          <a:xfrm>
            <a:off x="4800600" y="3211373"/>
            <a:ext cx="3749040" cy="486461"/>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prediction confidence</a:t>
            </a:r>
            <a:endParaRPr lang="en-US" sz="1200" dirty="0"/>
          </a:p>
        </p:txBody>
      </p:sp>
      <p:sp>
        <p:nvSpPr>
          <p:cNvPr id="12" name="Text 10"/>
          <p:cNvSpPr txBox="1"/>
          <p:nvPr/>
        </p:nvSpPr>
        <p:spPr>
          <a:xfrm>
            <a:off x="502920" y="4023360"/>
            <a:ext cx="8138160" cy="45720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Weights saved as symptoms_disease_classifier_weights.weights.h5 (best validation epoch).</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9AA7"/>
          </a:solidFill>
          <a:ln/>
        </p:spPr>
      </p:sp>
      <p:sp>
        <p:nvSpPr>
          <p:cNvPr id="3" name="Text 1"/>
          <p:cNvSpPr txBox="1"/>
          <p:nvPr/>
        </p:nvSpPr>
        <p:spPr>
          <a:xfrm>
            <a:off x="502920" y="274320"/>
            <a:ext cx="8138160" cy="548640"/>
          </a:xfrm>
          <a:prstGeom prst="rect">
            <a:avLst/>
          </a:prstGeom>
          <a:noFill/>
          <a:ln/>
        </p:spPr>
        <p:txBody>
          <a:bodyPr wrap="square" lIns="0" tIns="0" rIns="0" bIns="0" rtlCol="0" anchor="ctr"/>
          <a:lstStyle/>
          <a:p>
            <a:pPr indent="0" marL="0">
              <a:buNone/>
            </a:pPr>
            <a:r>
              <a:rPr lang="en-US" sz="2600" b="1" dirty="0">
                <a:solidFill>
                  <a:srgbClr val="12284C"/>
                </a:solidFill>
                <a:latin typeface="Calibri" pitchFamily="34" charset="0"/>
                <a:ea typeface="Calibri" pitchFamily="34" charset="-122"/>
                <a:cs typeface="Calibri" pitchFamily="34" charset="-120"/>
              </a:rPr>
              <a:t>Expected Outcome vs. Achieved</a:t>
            </a:r>
            <a:endParaRPr lang="en-US" sz="2600" dirty="0"/>
          </a:p>
        </p:txBody>
      </p:sp>
      <p:sp>
        <p:nvSpPr>
          <p:cNvPr id="4" name="Text 2"/>
          <p:cNvSpPr txBox="1"/>
          <p:nvPr/>
        </p:nvSpPr>
        <p:spPr>
          <a:xfrm>
            <a:off x="502920" y="804672"/>
            <a:ext cx="813816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What we set out to deliver</a:t>
            </a:r>
            <a:endParaRPr lang="en-US" sz="1300" dirty="0"/>
          </a:p>
        </p:txBody>
      </p:sp>
      <p:sp>
        <p:nvSpPr>
          <p:cNvPr id="5" name="Shape 3"/>
          <p:cNvSpPr/>
          <p:nvPr/>
        </p:nvSpPr>
        <p:spPr>
          <a:xfrm>
            <a:off x="502920" y="1188720"/>
            <a:ext cx="8138160" cy="713232"/>
          </a:xfrm>
          <a:prstGeom prst="roundRect">
            <a:avLst>
              <a:gd name="adj" fmla="val 12821"/>
            </a:avLst>
          </a:prstGeom>
          <a:solidFill>
            <a:srgbClr val="F3F6FA"/>
          </a:solidFill>
          <a:ln w="12700">
            <a:solidFill>
              <a:srgbClr val="F3F6FA"/>
            </a:solidFill>
            <a:prstDash val="solid"/>
          </a:ln>
        </p:spPr>
      </p:sp>
      <p:sp>
        <p:nvSpPr>
          <p:cNvPr id="6" name="Shape 4"/>
          <p:cNvSpPr/>
          <p:nvPr/>
        </p:nvSpPr>
        <p:spPr>
          <a:xfrm>
            <a:off x="685800" y="1344168"/>
            <a:ext cx="402336" cy="402336"/>
          </a:xfrm>
          <a:prstGeom prst="ellipse">
            <a:avLst/>
          </a:prstGeom>
          <a:solidFill>
            <a:srgbClr val="0E9AA7"/>
          </a:solidFill>
          <a:ln/>
        </p:spPr>
      </p:sp>
      <p:sp>
        <p:nvSpPr>
          <p:cNvPr id="7" name="Text 5"/>
          <p:cNvSpPr txBox="1"/>
          <p:nvPr/>
        </p:nvSpPr>
        <p:spPr>
          <a:xfrm>
            <a:off x="685800" y="1344168"/>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280160" y="1188720"/>
            <a:ext cx="2926080" cy="713232"/>
          </a:xfrm>
          <a:prstGeom prst="rect">
            <a:avLst/>
          </a:prstGeom>
          <a:noFill/>
          <a:ln/>
        </p:spPr>
        <p:txBody>
          <a:bodyPr wrap="square" lIns="0" tIns="0" rIns="0" bIns="0" rtlCol="0" anchor="ctr"/>
          <a:lstStyle/>
          <a:p>
            <a:pPr indent="0" marL="0">
              <a:buNone/>
            </a:pPr>
            <a:r>
              <a:rPr lang="en-US" sz="1500" b="1" dirty="0">
                <a:solidFill>
                  <a:srgbClr val="12284C"/>
                </a:solidFill>
                <a:latin typeface="Calibri" pitchFamily="34" charset="0"/>
                <a:ea typeface="Calibri" pitchFamily="34" charset="-122"/>
                <a:cs typeface="Calibri" pitchFamily="34" charset="-120"/>
              </a:rPr>
              <a:t>Robust multi-class prediction</a:t>
            </a:r>
            <a:endParaRPr lang="en-US" sz="1500" dirty="0"/>
          </a:p>
        </p:txBody>
      </p:sp>
      <p:sp>
        <p:nvSpPr>
          <p:cNvPr id="9" name="Text 7"/>
          <p:cNvSpPr txBox="1"/>
          <p:nvPr/>
        </p:nvSpPr>
        <p:spPr>
          <a:xfrm>
            <a:off x="4206240" y="1188720"/>
            <a:ext cx="4297680" cy="713232"/>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Achieved: 95.4% (TF-IDF + LR) and 85.0% (BERT) test accuracy</a:t>
            </a:r>
            <a:endParaRPr lang="en-US" sz="1200" dirty="0"/>
          </a:p>
        </p:txBody>
      </p:sp>
      <p:sp>
        <p:nvSpPr>
          <p:cNvPr id="10" name="Shape 8"/>
          <p:cNvSpPr/>
          <p:nvPr/>
        </p:nvSpPr>
        <p:spPr>
          <a:xfrm>
            <a:off x="502920" y="2029968"/>
            <a:ext cx="8138160" cy="713232"/>
          </a:xfrm>
          <a:prstGeom prst="roundRect">
            <a:avLst>
              <a:gd name="adj" fmla="val 12821"/>
            </a:avLst>
          </a:prstGeom>
          <a:solidFill>
            <a:srgbClr val="F3F6FA"/>
          </a:solidFill>
          <a:ln w="12700">
            <a:solidFill>
              <a:srgbClr val="F3F6FA"/>
            </a:solidFill>
            <a:prstDash val="solid"/>
          </a:ln>
        </p:spPr>
      </p:sp>
      <p:sp>
        <p:nvSpPr>
          <p:cNvPr id="11" name="Shape 9"/>
          <p:cNvSpPr/>
          <p:nvPr/>
        </p:nvSpPr>
        <p:spPr>
          <a:xfrm>
            <a:off x="685800" y="2185416"/>
            <a:ext cx="402336" cy="402336"/>
          </a:xfrm>
          <a:prstGeom prst="ellipse">
            <a:avLst/>
          </a:prstGeom>
          <a:solidFill>
            <a:srgbClr val="0E9AA7"/>
          </a:solidFill>
          <a:ln/>
        </p:spPr>
      </p:sp>
      <p:sp>
        <p:nvSpPr>
          <p:cNvPr id="12" name="Text 10"/>
          <p:cNvSpPr txBox="1"/>
          <p:nvPr/>
        </p:nvSpPr>
        <p:spPr>
          <a:xfrm>
            <a:off x="685800" y="218541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3" name="Text 11"/>
          <p:cNvSpPr txBox="1"/>
          <p:nvPr/>
        </p:nvSpPr>
        <p:spPr>
          <a:xfrm>
            <a:off x="1280160" y="2029968"/>
            <a:ext cx="2926080" cy="713232"/>
          </a:xfrm>
          <a:prstGeom prst="rect">
            <a:avLst/>
          </a:prstGeom>
          <a:noFill/>
          <a:ln/>
        </p:spPr>
        <p:txBody>
          <a:bodyPr wrap="square" lIns="0" tIns="0" rIns="0" bIns="0" rtlCol="0" anchor="ctr"/>
          <a:lstStyle/>
          <a:p>
            <a:pPr indent="0" marL="0">
              <a:buNone/>
            </a:pPr>
            <a:r>
              <a:rPr lang="en-US" sz="1500" b="1" dirty="0">
                <a:solidFill>
                  <a:srgbClr val="12284C"/>
                </a:solidFill>
                <a:latin typeface="Calibri" pitchFamily="34" charset="0"/>
                <a:ea typeface="Calibri" pitchFamily="34" charset="-122"/>
                <a:cs typeface="Calibri" pitchFamily="34" charset="-120"/>
              </a:rPr>
              <a:t>BERT vs. TF-IDF comparison</a:t>
            </a:r>
            <a:endParaRPr lang="en-US" sz="1500" dirty="0"/>
          </a:p>
        </p:txBody>
      </p:sp>
      <p:sp>
        <p:nvSpPr>
          <p:cNvPr id="14" name="Text 12"/>
          <p:cNvSpPr txBox="1"/>
          <p:nvPr/>
        </p:nvSpPr>
        <p:spPr>
          <a:xfrm>
            <a:off x="4206240" y="2029968"/>
            <a:ext cx="4297680" cy="713232"/>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Achieved: Accuracy, Macro-F1, Weighted-F1, reports, confusion matrices</a:t>
            </a:r>
            <a:endParaRPr lang="en-US" sz="1200" dirty="0"/>
          </a:p>
        </p:txBody>
      </p:sp>
      <p:sp>
        <p:nvSpPr>
          <p:cNvPr id="15" name="Shape 13"/>
          <p:cNvSpPr/>
          <p:nvPr/>
        </p:nvSpPr>
        <p:spPr>
          <a:xfrm>
            <a:off x="502920" y="2871216"/>
            <a:ext cx="8138160" cy="713232"/>
          </a:xfrm>
          <a:prstGeom prst="roundRect">
            <a:avLst>
              <a:gd name="adj" fmla="val 12821"/>
            </a:avLst>
          </a:prstGeom>
          <a:solidFill>
            <a:srgbClr val="F3F6FA"/>
          </a:solidFill>
          <a:ln w="12700">
            <a:solidFill>
              <a:srgbClr val="F3F6FA"/>
            </a:solidFill>
            <a:prstDash val="solid"/>
          </a:ln>
        </p:spPr>
      </p:sp>
      <p:sp>
        <p:nvSpPr>
          <p:cNvPr id="16" name="Shape 14"/>
          <p:cNvSpPr/>
          <p:nvPr/>
        </p:nvSpPr>
        <p:spPr>
          <a:xfrm>
            <a:off x="685800" y="3026664"/>
            <a:ext cx="402336" cy="402336"/>
          </a:xfrm>
          <a:prstGeom prst="ellipse">
            <a:avLst/>
          </a:prstGeom>
          <a:solidFill>
            <a:srgbClr val="0E9AA7"/>
          </a:solidFill>
          <a:ln/>
        </p:spPr>
      </p:sp>
      <p:sp>
        <p:nvSpPr>
          <p:cNvPr id="17" name="Text 15"/>
          <p:cNvSpPr txBox="1"/>
          <p:nvPr/>
        </p:nvSpPr>
        <p:spPr>
          <a:xfrm>
            <a:off x="685800" y="3026664"/>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Text 16"/>
          <p:cNvSpPr txBox="1"/>
          <p:nvPr/>
        </p:nvSpPr>
        <p:spPr>
          <a:xfrm>
            <a:off x="1280160" y="2871216"/>
            <a:ext cx="2926080" cy="713232"/>
          </a:xfrm>
          <a:prstGeom prst="rect">
            <a:avLst/>
          </a:prstGeom>
          <a:noFill/>
          <a:ln/>
        </p:spPr>
        <p:txBody>
          <a:bodyPr wrap="square" lIns="0" tIns="0" rIns="0" bIns="0" rtlCol="0" anchor="ctr"/>
          <a:lstStyle/>
          <a:p>
            <a:pPr indent="0" marL="0">
              <a:buNone/>
            </a:pPr>
            <a:r>
              <a:rPr lang="en-US" sz="1500" b="1" dirty="0">
                <a:solidFill>
                  <a:srgbClr val="12284C"/>
                </a:solidFill>
                <a:latin typeface="Calibri" pitchFamily="34" charset="0"/>
                <a:ea typeface="Calibri" pitchFamily="34" charset="-122"/>
                <a:cs typeface="Calibri" pitchFamily="34" charset="-120"/>
              </a:rPr>
              <a:t>Custom symptom prediction</a:t>
            </a:r>
            <a:endParaRPr lang="en-US" sz="1500" dirty="0"/>
          </a:p>
        </p:txBody>
      </p:sp>
      <p:sp>
        <p:nvSpPr>
          <p:cNvPr id="19" name="Text 17"/>
          <p:cNvSpPr txBox="1"/>
          <p:nvPr/>
        </p:nvSpPr>
        <p:spPr>
          <a:xfrm>
            <a:off x="4206240" y="2871216"/>
            <a:ext cx="4297680" cy="713232"/>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Achieved: example input predicted as Arthritis (81.45%)</a:t>
            </a:r>
            <a:endParaRPr lang="en-US" sz="1200" dirty="0"/>
          </a:p>
        </p:txBody>
      </p:sp>
      <p:sp>
        <p:nvSpPr>
          <p:cNvPr id="20" name="Shape 18"/>
          <p:cNvSpPr/>
          <p:nvPr/>
        </p:nvSpPr>
        <p:spPr>
          <a:xfrm>
            <a:off x="502920" y="3712464"/>
            <a:ext cx="8138160" cy="713232"/>
          </a:xfrm>
          <a:prstGeom prst="roundRect">
            <a:avLst>
              <a:gd name="adj" fmla="val 12821"/>
            </a:avLst>
          </a:prstGeom>
          <a:solidFill>
            <a:srgbClr val="F3F6FA"/>
          </a:solidFill>
          <a:ln w="12700">
            <a:solidFill>
              <a:srgbClr val="F3F6FA"/>
            </a:solidFill>
            <a:prstDash val="solid"/>
          </a:ln>
        </p:spPr>
      </p:sp>
      <p:sp>
        <p:nvSpPr>
          <p:cNvPr id="21" name="Shape 19"/>
          <p:cNvSpPr/>
          <p:nvPr/>
        </p:nvSpPr>
        <p:spPr>
          <a:xfrm>
            <a:off x="685800" y="3867912"/>
            <a:ext cx="402336" cy="402336"/>
          </a:xfrm>
          <a:prstGeom prst="ellipse">
            <a:avLst/>
          </a:prstGeom>
          <a:solidFill>
            <a:srgbClr val="0E9AA7"/>
          </a:solidFill>
          <a:ln/>
        </p:spPr>
      </p:sp>
      <p:sp>
        <p:nvSpPr>
          <p:cNvPr id="22" name="Text 20"/>
          <p:cNvSpPr txBox="1"/>
          <p:nvPr/>
        </p:nvSpPr>
        <p:spPr>
          <a:xfrm>
            <a:off x="685800" y="386791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3" name="Text 21"/>
          <p:cNvSpPr txBox="1"/>
          <p:nvPr/>
        </p:nvSpPr>
        <p:spPr>
          <a:xfrm>
            <a:off x="1280160" y="3712464"/>
            <a:ext cx="2926080" cy="713232"/>
          </a:xfrm>
          <a:prstGeom prst="rect">
            <a:avLst/>
          </a:prstGeom>
          <a:noFill/>
          <a:ln/>
        </p:spPr>
        <p:txBody>
          <a:bodyPr wrap="square" lIns="0" tIns="0" rIns="0" bIns="0" rtlCol="0" anchor="ctr"/>
          <a:lstStyle/>
          <a:p>
            <a:pPr indent="0" marL="0">
              <a:buNone/>
            </a:pPr>
            <a:r>
              <a:rPr lang="en-US" sz="1500" b="1" dirty="0">
                <a:solidFill>
                  <a:srgbClr val="12284C"/>
                </a:solidFill>
                <a:latin typeface="Calibri" pitchFamily="34" charset="0"/>
                <a:ea typeface="Calibri" pitchFamily="34" charset="-122"/>
                <a:cs typeface="Calibri" pitchFamily="34" charset="-120"/>
              </a:rPr>
              <a:t>Saved model weights</a:t>
            </a:r>
            <a:endParaRPr lang="en-US" sz="1500" dirty="0"/>
          </a:p>
        </p:txBody>
      </p:sp>
      <p:sp>
        <p:nvSpPr>
          <p:cNvPr id="24" name="Text 22"/>
          <p:cNvSpPr txBox="1"/>
          <p:nvPr/>
        </p:nvSpPr>
        <p:spPr>
          <a:xfrm>
            <a:off x="4206240" y="3712464"/>
            <a:ext cx="4297680" cy="713232"/>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Achieved: best-epoch BERT head weights saved (.weights.h5)</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9AA7"/>
          </a:solidFill>
          <a:ln/>
        </p:spPr>
      </p:sp>
      <p:sp>
        <p:nvSpPr>
          <p:cNvPr id="3" name="Text 1"/>
          <p:cNvSpPr txBox="1"/>
          <p:nvPr/>
        </p:nvSpPr>
        <p:spPr>
          <a:xfrm>
            <a:off x="502920" y="274320"/>
            <a:ext cx="8138160" cy="548640"/>
          </a:xfrm>
          <a:prstGeom prst="rect">
            <a:avLst/>
          </a:prstGeom>
          <a:noFill/>
          <a:ln/>
        </p:spPr>
        <p:txBody>
          <a:bodyPr wrap="square" lIns="0" tIns="0" rIns="0" bIns="0" rtlCol="0" anchor="ctr"/>
          <a:lstStyle/>
          <a:p>
            <a:pPr indent="0" marL="0">
              <a:buNone/>
            </a:pPr>
            <a:r>
              <a:rPr lang="en-US" sz="2600" b="1" dirty="0">
                <a:solidFill>
                  <a:srgbClr val="12284C"/>
                </a:solidFill>
                <a:latin typeface="Calibri" pitchFamily="34" charset="0"/>
                <a:ea typeface="Calibri" pitchFamily="34" charset="-122"/>
                <a:cs typeface="Calibri" pitchFamily="34" charset="-120"/>
              </a:rPr>
              <a:t>Conclusion &amp; Future Work</a:t>
            </a:r>
            <a:endParaRPr lang="en-US" sz="2600" dirty="0"/>
          </a:p>
        </p:txBody>
      </p:sp>
      <p:sp>
        <p:nvSpPr>
          <p:cNvPr id="4" name="Text 2"/>
          <p:cNvSpPr txBox="1"/>
          <p:nvPr/>
        </p:nvSpPr>
        <p:spPr>
          <a:xfrm>
            <a:off x="502920" y="1051560"/>
            <a:ext cx="3840480" cy="365760"/>
          </a:xfrm>
          <a:prstGeom prst="rect">
            <a:avLst/>
          </a:prstGeom>
          <a:noFill/>
          <a:ln/>
        </p:spPr>
        <p:txBody>
          <a:bodyPr wrap="square" lIns="0" tIns="0" rIns="0" bIns="0" rtlCol="0" anchor="ctr"/>
          <a:lstStyle/>
          <a:p>
            <a:pPr indent="0" marL="0">
              <a:buNone/>
            </a:pPr>
            <a:r>
              <a:rPr lang="en-US" sz="1800" b="1" dirty="0">
                <a:solidFill>
                  <a:srgbClr val="0E9AA7"/>
                </a:solidFill>
                <a:latin typeface="Calibri" pitchFamily="34" charset="0"/>
                <a:ea typeface="Calibri" pitchFamily="34" charset="-122"/>
                <a:cs typeface="Calibri" pitchFamily="34" charset="-120"/>
              </a:rPr>
              <a:t>Key findings</a:t>
            </a:r>
            <a:endParaRPr lang="en-US" sz="1800" dirty="0"/>
          </a:p>
        </p:txBody>
      </p:sp>
      <p:sp>
        <p:nvSpPr>
          <p:cNvPr id="5" name="Text 3"/>
          <p:cNvSpPr txBox="1"/>
          <p:nvPr/>
        </p:nvSpPr>
        <p:spPr>
          <a:xfrm>
            <a:off x="502920" y="1463040"/>
            <a:ext cx="3931920" cy="3108960"/>
          </a:xfrm>
          <a:prstGeom prst="rect">
            <a:avLst/>
          </a:prstGeom>
          <a:noFill/>
          <a:ln/>
        </p:spPr>
        <p:txBody>
          <a:bodyPr wrap="square" rtlCol="0" anchor="t"/>
          <a:lstStyle/>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Both approaches classify 24 diseases well from raw text</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TF-IDF + LR: 95.4% accuracy vs. 85.0% for frozen BERT</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Descriptions are short and keyword-rich, which favours sparse features</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TF-IDF is faster, cheaper and easier to interpret</a:t>
            </a:r>
            <a:endParaRPr lang="en-US" sz="1400" dirty="0"/>
          </a:p>
        </p:txBody>
      </p:sp>
      <p:sp>
        <p:nvSpPr>
          <p:cNvPr id="6" name="Text 4"/>
          <p:cNvSpPr txBox="1"/>
          <p:nvPr/>
        </p:nvSpPr>
        <p:spPr>
          <a:xfrm>
            <a:off x="4754880" y="1051560"/>
            <a:ext cx="3840480" cy="365760"/>
          </a:xfrm>
          <a:prstGeom prst="rect">
            <a:avLst/>
          </a:prstGeom>
          <a:noFill/>
          <a:ln/>
        </p:spPr>
        <p:txBody>
          <a:bodyPr wrap="square" lIns="0" tIns="0" rIns="0" bIns="0" rtlCol="0" anchor="ctr"/>
          <a:lstStyle/>
          <a:p>
            <a:pPr indent="0" marL="0">
              <a:buNone/>
            </a:pPr>
            <a:r>
              <a:rPr lang="en-US" sz="1800" b="1" dirty="0">
                <a:solidFill>
                  <a:srgbClr val="F28C28"/>
                </a:solidFill>
                <a:latin typeface="Calibri" pitchFamily="34" charset="0"/>
                <a:ea typeface="Calibri" pitchFamily="34" charset="-122"/>
                <a:cs typeface="Calibri" pitchFamily="34" charset="-120"/>
              </a:rPr>
              <a:t>Future work</a:t>
            </a:r>
            <a:endParaRPr lang="en-US" sz="1800" dirty="0"/>
          </a:p>
        </p:txBody>
      </p:sp>
      <p:sp>
        <p:nvSpPr>
          <p:cNvPr id="7" name="Text 5"/>
          <p:cNvSpPr txBox="1"/>
          <p:nvPr/>
        </p:nvSpPr>
        <p:spPr>
          <a:xfrm>
            <a:off x="4754880" y="1463040"/>
            <a:ext cx="3931920" cy="3108960"/>
          </a:xfrm>
          <a:prstGeom prst="rect">
            <a:avLst/>
          </a:prstGeom>
          <a:noFill/>
          <a:ln/>
        </p:spPr>
        <p:txBody>
          <a:bodyPr wrap="square" rtlCol="0" anchor="t"/>
          <a:lstStyle/>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Fine-tune BERT end to end and train longer</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Try a clinical model such as BioBERT</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Cross-validation and real patient text</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Top-5 predictions with calibrated confidence</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Research prototype only, not for medical diagnosis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2284C"/>
        </a:solidFill>
      </p:bgPr>
    </p:bg>
    <p:spTree>
      <p:nvGrpSpPr>
        <p:cNvPr id="1" name=""/>
        <p:cNvGrpSpPr/>
        <p:nvPr/>
      </p:nvGrpSpPr>
      <p:grpSpPr>
        <a:xfrm>
          <a:off x="0" y="0"/>
          <a:ext cx="0" cy="0"/>
          <a:chOff x="0" y="0"/>
          <a:chExt cx="0" cy="0"/>
        </a:xfrm>
      </p:grpSpPr>
      <p:sp>
        <p:nvSpPr>
          <p:cNvPr id="2" name="Text 0"/>
          <p:cNvSpPr txBox="1"/>
          <p:nvPr/>
        </p:nvSpPr>
        <p:spPr>
          <a:xfrm>
            <a:off x="640080" y="1645920"/>
            <a:ext cx="7863840" cy="91440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3" name="Shape 1"/>
          <p:cNvSpPr/>
          <p:nvPr/>
        </p:nvSpPr>
        <p:spPr>
          <a:xfrm>
            <a:off x="640080" y="2651760"/>
            <a:ext cx="1097280" cy="64008"/>
          </a:xfrm>
          <a:prstGeom prst="rect">
            <a:avLst/>
          </a:prstGeom>
          <a:solidFill>
            <a:srgbClr val="F28C28"/>
          </a:solidFill>
          <a:ln/>
        </p:spPr>
      </p:sp>
      <p:sp>
        <p:nvSpPr>
          <p:cNvPr id="4" name="Text 2"/>
          <p:cNvSpPr txBox="1"/>
          <p:nvPr/>
        </p:nvSpPr>
        <p:spPr>
          <a:xfrm>
            <a:off x="640080" y="2926080"/>
            <a:ext cx="7315200" cy="457200"/>
          </a:xfrm>
          <a:prstGeom prst="rect">
            <a:avLst/>
          </a:prstGeom>
          <a:noFill/>
          <a:ln/>
        </p:spPr>
        <p:txBody>
          <a:bodyPr wrap="square" lIns="0" tIns="0" rIns="0" bIns="0" rtlCol="0" anchor="ctr"/>
          <a:lstStyle/>
          <a:p>
            <a:pPr indent="0" marL="0">
              <a:buNone/>
            </a:pPr>
            <a:r>
              <a:rPr lang="en-US" sz="2000" dirty="0">
                <a:solidFill>
                  <a:srgbClr val="CFE8EC"/>
                </a:solidFill>
                <a:latin typeface="Calibri" pitchFamily="34" charset="0"/>
                <a:ea typeface="Calibri" pitchFamily="34" charset="-122"/>
                <a:cs typeface="Calibri" pitchFamily="34" charset="-120"/>
              </a:rPr>
              <a:t>Questions?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Symptom2Disease NLP</dc:title>
  <dc:subject>PptxGenJS Presentation</dc:subject>
  <dc:creator>PptxGenJS</dc:creator>
  <cp:lastModifiedBy>PptxGenJS</cp:lastModifiedBy>
  <cp:revision>1</cp:revision>
  <dcterms:created xsi:type="dcterms:W3CDTF">2026-10-17T10:53:49Z</dcterms:created>
  <dcterms:modified xsi:type="dcterms:W3CDTF">2026-10-17T10:53:49Z</dcterms:modified>
</cp:coreProperties>
</file>